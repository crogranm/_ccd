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32399288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1" autoAdjust="0"/>
    <p:restoredTop sz="94660"/>
  </p:normalViewPr>
  <p:slideViewPr>
    <p:cSldViewPr snapToGrid="0">
      <p:cViewPr varScale="1">
        <p:scale>
          <a:sx n="17" d="100"/>
          <a:sy n="17" d="100"/>
        </p:scale>
        <p:origin x="3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sz="2400" dirty="0"/>
              <a:t>구현 시간 비교</a:t>
            </a:r>
            <a:r>
              <a:rPr lang="en-US" altLang="ko-KR" sz="2400" dirty="0"/>
              <a:t> (Day)</a:t>
            </a:r>
            <a:endParaRPr lang="en-US" sz="24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>
                <a:innerShdw blurRad="114300">
                  <a:schemeClr val="accent1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4-1D97-460B-A0E3-E340AF71FC52}"/>
              </c:ext>
            </c:extLst>
          </c:dPt>
          <c:cat>
            <c:strRef>
              <c:f>Sheet1!$A$2:$A$3</c:f>
              <c:strCache>
                <c:ptCount val="2"/>
                <c:pt idx="0">
                  <c:v>기존</c:v>
                </c:pt>
                <c:pt idx="1">
                  <c:v>LLM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97-460B-A0E3-E340AF71FC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7"/>
        <c:overlap val="-48"/>
        <c:axId val="317151440"/>
        <c:axId val="317149520"/>
      </c:barChart>
      <c:catAx>
        <c:axId val="317151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17149520"/>
        <c:crosses val="autoZero"/>
        <c:auto val="1"/>
        <c:lblAlgn val="ctr"/>
        <c:lblOffset val="100"/>
        <c:noMultiLvlLbl val="0"/>
      </c:catAx>
      <c:valAx>
        <c:axId val="317149520"/>
        <c:scaling>
          <c:orientation val="minMax"/>
          <c:max val="1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1715144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Vert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Vert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CFD26-807D-482F-9269-487A733D5587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6AB749-0598-49AA-8249-049EB7E95B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194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6AB749-0598-49AA-8249-049EB7E95B7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575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39CF-70CD-434E-85D7-81BFBF5DAE06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966B-5901-43D6-95AC-0E76889A57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224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39CF-70CD-434E-85D7-81BFBF5DAE06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966B-5901-43D6-95AC-0E76889A57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667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39CF-70CD-434E-85D7-81BFBF5DAE06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966B-5901-43D6-95AC-0E76889A57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73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39CF-70CD-434E-85D7-81BFBF5DAE06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966B-5901-43D6-95AC-0E76889A57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2465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39CF-70CD-434E-85D7-81BFBF5DAE06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966B-5901-43D6-95AC-0E76889A57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961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39CF-70CD-434E-85D7-81BFBF5DAE06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966B-5901-43D6-95AC-0E76889A57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347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39CF-70CD-434E-85D7-81BFBF5DAE06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966B-5901-43D6-95AC-0E76889A57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627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39CF-70CD-434E-85D7-81BFBF5DAE06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966B-5901-43D6-95AC-0E76889A57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759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39CF-70CD-434E-85D7-81BFBF5DAE06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966B-5901-43D6-95AC-0E76889A57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604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39CF-70CD-434E-85D7-81BFBF5DAE06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966B-5901-43D6-95AC-0E76889A57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816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39CF-70CD-434E-85D7-81BFBF5DAE06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966B-5901-43D6-95AC-0E76889A57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325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039CF-70CD-434E-85D7-81BFBF5DAE06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6966B-5901-43D6-95AC-0E76889A57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662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902" rtl="0" eaLnBrk="1" latinLnBrk="1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1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685CAC4-B077-5042-F3A0-B4DF855FEF28}"/>
              </a:ext>
            </a:extLst>
          </p:cNvPr>
          <p:cNvSpPr/>
          <p:nvPr/>
        </p:nvSpPr>
        <p:spPr>
          <a:xfrm>
            <a:off x="0" y="1"/>
            <a:ext cx="32399288" cy="72008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4C8758-FAFC-F37E-7CFC-B5765217A7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8388" y="286515"/>
            <a:ext cx="6627869" cy="66278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39DB8D-6DAC-8893-4F17-A435296A90A1}"/>
              </a:ext>
            </a:extLst>
          </p:cNvPr>
          <p:cNvSpPr txBox="1"/>
          <p:nvPr/>
        </p:nvSpPr>
        <p:spPr>
          <a:xfrm>
            <a:off x="1146061" y="1349380"/>
            <a:ext cx="3010716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언리얼</a:t>
            </a:r>
            <a:r>
              <a:rPr lang="ko-KR" alt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 엔진 </a:t>
            </a:r>
            <a:r>
              <a:rPr lang="en-US" altLang="ko-K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C++ </a:t>
            </a:r>
            <a:r>
              <a:rPr lang="ko-KR" alt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환경에서 </a:t>
            </a:r>
            <a:r>
              <a:rPr lang="en-US" altLang="ko-K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LLM</a:t>
            </a:r>
            <a:r>
              <a:rPr lang="ko-KR" alt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을 활용한 소규모 게임 개발 효율성 연구</a:t>
            </a:r>
            <a:endParaRPr lang="en-US" altLang="ko-KR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endParaRPr lang="en-US" altLang="ko-KR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r>
              <a:rPr lang="ko-KR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졸업작품 개발 사례를 중심으로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9E03B-4607-406A-6E2A-5B51E943D17C}"/>
              </a:ext>
            </a:extLst>
          </p:cNvPr>
          <p:cNvSpPr txBox="1"/>
          <p:nvPr/>
        </p:nvSpPr>
        <p:spPr>
          <a:xfrm>
            <a:off x="1146061" y="4372641"/>
            <a:ext cx="248915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Sung-Wook Cho</a:t>
            </a:r>
            <a:r>
              <a:rPr lang="ko-KR" altLang="en-US" sz="4800" b="1" baseline="300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○</a:t>
            </a:r>
            <a:r>
              <a:rPr lang="ko-KR" altLang="en-US" sz="5400" dirty="0"/>
              <a:t>  </a:t>
            </a:r>
            <a:r>
              <a:rPr lang="en-US" altLang="ko-KR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Min-Woo Ji, Daniel Kim, Dae-Hyun Lee </a:t>
            </a:r>
            <a:endParaRPr lang="en-US" altLang="ko-KR" sz="5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r>
              <a:rPr lang="en-US" altLang="ko-KR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Tech University of Korea Dept. </a:t>
            </a:r>
            <a:r>
              <a:rPr lang="en-US" altLang="ko-KR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Game &amp; Multimedia Engineering </a:t>
            </a:r>
            <a:endParaRPr lang="ko-KR" altLang="en-US" sz="5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D21401-06AB-A3A4-7FE8-5C6C0A7FEF1A}"/>
              </a:ext>
            </a:extLst>
          </p:cNvPr>
          <p:cNvSpPr/>
          <p:nvPr/>
        </p:nvSpPr>
        <p:spPr>
          <a:xfrm>
            <a:off x="400048" y="7731171"/>
            <a:ext cx="15380726" cy="13538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C90D7C-38E1-8D00-3C91-0325FB92D1C2}"/>
              </a:ext>
            </a:extLst>
          </p:cNvPr>
          <p:cNvSpPr txBox="1"/>
          <p:nvPr/>
        </p:nvSpPr>
        <p:spPr>
          <a:xfrm>
            <a:off x="747853" y="8060967"/>
            <a:ext cx="42960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연구 배경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B3F0E1-F99C-F429-46C9-E398A6DEEA6C}"/>
              </a:ext>
            </a:extLst>
          </p:cNvPr>
          <p:cNvSpPr txBox="1"/>
          <p:nvPr/>
        </p:nvSpPr>
        <p:spPr>
          <a:xfrm>
            <a:off x="400049" y="9407980"/>
            <a:ext cx="1538072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ea typeface="+mj-ea"/>
              </a:rPr>
              <a:t> 최근 전 세계 </a:t>
            </a:r>
            <a:r>
              <a:rPr lang="en-US" altLang="ko-KR" sz="3200" dirty="0">
                <a:ea typeface="+mj-ea"/>
              </a:rPr>
              <a:t>IT </a:t>
            </a:r>
            <a:r>
              <a:rPr lang="ko-KR" altLang="en-US" sz="3200" dirty="0">
                <a:ea typeface="+mj-ea"/>
              </a:rPr>
              <a:t>업계는 </a:t>
            </a:r>
            <a:r>
              <a:rPr lang="en-US" altLang="ko-KR" sz="3200" dirty="0">
                <a:ea typeface="+mj-ea"/>
              </a:rPr>
              <a:t>'</a:t>
            </a:r>
            <a:r>
              <a:rPr lang="ko-KR" altLang="en-US" sz="3200" dirty="0">
                <a:ea typeface="+mj-ea"/>
              </a:rPr>
              <a:t>개발자 채용 감소</a:t>
            </a:r>
            <a:r>
              <a:rPr lang="en-US" altLang="ko-KR" sz="3200" dirty="0">
                <a:ea typeface="+mj-ea"/>
              </a:rPr>
              <a:t>'</a:t>
            </a:r>
            <a:r>
              <a:rPr lang="ko-KR" altLang="en-US" sz="3200" dirty="0">
                <a:ea typeface="+mj-ea"/>
              </a:rPr>
              <a:t>와 </a:t>
            </a:r>
            <a:r>
              <a:rPr lang="en-US" altLang="ko-KR" sz="3200" dirty="0">
                <a:ea typeface="+mj-ea"/>
              </a:rPr>
              <a:t>'AI </a:t>
            </a:r>
            <a:r>
              <a:rPr lang="ko-KR" altLang="en-US" sz="3200" dirty="0">
                <a:ea typeface="+mj-ea"/>
              </a:rPr>
              <a:t>인재 수요 급증</a:t>
            </a:r>
            <a:r>
              <a:rPr lang="en-US" altLang="ko-KR" sz="3200" dirty="0">
                <a:ea typeface="+mj-ea"/>
              </a:rPr>
              <a:t>'</a:t>
            </a:r>
            <a:r>
              <a:rPr lang="ko-KR" altLang="en-US" sz="3200" dirty="0">
                <a:ea typeface="+mj-ea"/>
              </a:rPr>
              <a:t>이라는 구조적 전환기를 맞이하고 있다</a:t>
            </a:r>
            <a:r>
              <a:rPr lang="en-US" altLang="ko-KR" sz="3200" dirty="0">
                <a:ea typeface="+mj-ea"/>
              </a:rPr>
              <a:t>. 2021</a:t>
            </a:r>
            <a:r>
              <a:rPr lang="ko-KR" altLang="en-US" sz="3200" dirty="0">
                <a:ea typeface="+mj-ea"/>
              </a:rPr>
              <a:t>년 이후 개발자 수요는 둔화되었으며</a:t>
            </a:r>
            <a:r>
              <a:rPr lang="en-US" altLang="ko-KR" sz="3200" dirty="0">
                <a:ea typeface="+mj-ea"/>
              </a:rPr>
              <a:t>, 2022</a:t>
            </a:r>
            <a:r>
              <a:rPr lang="ko-KR" altLang="en-US" sz="3200" dirty="0">
                <a:ea typeface="+mj-ea"/>
              </a:rPr>
              <a:t>년부터 </a:t>
            </a:r>
            <a:r>
              <a:rPr lang="en-US" altLang="ko-KR" sz="3200" dirty="0">
                <a:ea typeface="+mj-ea"/>
              </a:rPr>
              <a:t>2024</a:t>
            </a:r>
            <a:r>
              <a:rPr lang="ko-KR" altLang="en-US" sz="3200" dirty="0">
                <a:ea typeface="+mj-ea"/>
              </a:rPr>
              <a:t>년 사이 전 세 계적으로 약 </a:t>
            </a:r>
            <a:r>
              <a:rPr lang="en-US" altLang="ko-KR" sz="3200" dirty="0">
                <a:ea typeface="+mj-ea"/>
              </a:rPr>
              <a:t>56</a:t>
            </a:r>
            <a:r>
              <a:rPr lang="ko-KR" altLang="en-US" sz="3200" dirty="0">
                <a:ea typeface="+mj-ea"/>
              </a:rPr>
              <a:t>만 명 이상의 </a:t>
            </a:r>
            <a:r>
              <a:rPr lang="en-US" altLang="ko-KR" sz="3200" dirty="0">
                <a:ea typeface="+mj-ea"/>
              </a:rPr>
              <a:t>IT </a:t>
            </a:r>
            <a:r>
              <a:rPr lang="ko-KR" altLang="en-US" sz="3200" dirty="0">
                <a:ea typeface="+mj-ea"/>
              </a:rPr>
              <a:t>인력이 감축되었다</a:t>
            </a:r>
            <a:r>
              <a:rPr lang="en-US" altLang="ko-KR" sz="3200" dirty="0">
                <a:ea typeface="+mj-ea"/>
              </a:rPr>
              <a:t>.</a:t>
            </a:r>
          </a:p>
          <a:p>
            <a:r>
              <a:rPr lang="ko-KR" altLang="en-US" sz="3200" dirty="0">
                <a:ea typeface="+mj-ea"/>
              </a:rPr>
              <a:t> 이러한 흐름은 게임 업계에도 직결되어</a:t>
            </a:r>
            <a:r>
              <a:rPr lang="en-US" altLang="ko-KR" sz="3200" dirty="0">
                <a:ea typeface="+mj-ea"/>
              </a:rPr>
              <a:t>, </a:t>
            </a:r>
            <a:r>
              <a:rPr lang="ko-KR" altLang="en-US" sz="3200" dirty="0">
                <a:ea typeface="+mj-ea"/>
              </a:rPr>
              <a:t>신입 개발자의 진입 장벽은 높아지는 반면 </a:t>
            </a:r>
            <a:r>
              <a:rPr lang="en-US" altLang="ko-KR" sz="3200" dirty="0">
                <a:ea typeface="+mj-ea"/>
              </a:rPr>
              <a:t>LLM</a:t>
            </a:r>
            <a:r>
              <a:rPr lang="ko-KR" altLang="en-US" sz="3200" dirty="0">
                <a:ea typeface="+mj-ea"/>
              </a:rPr>
              <a:t>을 도구로 활용해 고도의 설계를 수행할 수 있는 능력은 소규모 개발 환경에서 생존을 위한 필수 역량이 되고 있다</a:t>
            </a:r>
            <a:r>
              <a:rPr lang="en-US" altLang="ko-KR" sz="3200" dirty="0">
                <a:ea typeface="+mj-ea"/>
              </a:rPr>
              <a:t>.</a:t>
            </a:r>
            <a:r>
              <a:rPr lang="ko-KR" altLang="en-US" sz="3200" dirty="0">
                <a:ea typeface="+mj-ea"/>
              </a:rPr>
              <a:t> </a:t>
            </a:r>
          </a:p>
          <a:p>
            <a:r>
              <a:rPr lang="en-US" altLang="ko-KR" sz="3200" dirty="0">
                <a:ea typeface="+mj-ea"/>
              </a:rPr>
              <a:t> 2020</a:t>
            </a:r>
            <a:r>
              <a:rPr lang="ko-KR" altLang="en-US" sz="3200" dirty="0">
                <a:ea typeface="+mj-ea"/>
              </a:rPr>
              <a:t>년 </a:t>
            </a:r>
            <a:r>
              <a:rPr lang="en-US" altLang="ko-KR" sz="3200" dirty="0">
                <a:ea typeface="+mj-ea"/>
              </a:rPr>
              <a:t>GPT-3</a:t>
            </a:r>
            <a:r>
              <a:rPr lang="ko-KR" altLang="en-US" sz="3200" dirty="0">
                <a:ea typeface="+mj-ea"/>
              </a:rPr>
              <a:t>의 등장을 기점으로 시작된 코딩 보조 능력은 </a:t>
            </a:r>
            <a:r>
              <a:rPr lang="en-US" altLang="ko-KR" sz="3200" dirty="0">
                <a:ea typeface="+mj-ea"/>
              </a:rPr>
              <a:t>2026</a:t>
            </a:r>
            <a:r>
              <a:rPr lang="ko-KR" altLang="en-US" sz="3200" dirty="0">
                <a:ea typeface="+mj-ea"/>
              </a:rPr>
              <a:t>년 현재 </a:t>
            </a:r>
            <a:r>
              <a:rPr lang="en-US" altLang="ko-KR" sz="3200" dirty="0">
                <a:ea typeface="+mj-ea"/>
              </a:rPr>
              <a:t>Claude Opus 4.5 </a:t>
            </a:r>
            <a:r>
              <a:rPr lang="ko-KR" altLang="en-US" sz="3200" dirty="0">
                <a:ea typeface="+mj-ea"/>
              </a:rPr>
              <a:t>및 </a:t>
            </a:r>
            <a:r>
              <a:rPr lang="en-US" altLang="ko-KR" sz="3200" dirty="0">
                <a:ea typeface="+mj-ea"/>
              </a:rPr>
              <a:t>GPT-5.4</a:t>
            </a:r>
            <a:r>
              <a:rPr lang="ko-KR" altLang="en-US" sz="3200" dirty="0">
                <a:ea typeface="+mj-ea"/>
              </a:rPr>
              <a:t>와 같은 모델들이 </a:t>
            </a:r>
            <a:r>
              <a:rPr lang="en-US" altLang="ko-KR" sz="3200" dirty="0">
                <a:ea typeface="+mj-ea"/>
              </a:rPr>
              <a:t>SWE- bench Verified</a:t>
            </a:r>
            <a:r>
              <a:rPr lang="ko-KR" altLang="en-US" sz="3200" dirty="0">
                <a:ea typeface="+mj-ea"/>
              </a:rPr>
              <a:t>에서 </a:t>
            </a:r>
            <a:r>
              <a:rPr lang="en-US" altLang="ko-KR" sz="3200" dirty="0">
                <a:ea typeface="+mj-ea"/>
              </a:rPr>
              <a:t>80%, </a:t>
            </a:r>
            <a:r>
              <a:rPr lang="en-US" altLang="ko-KR" sz="3200" dirty="0" err="1">
                <a:ea typeface="+mj-ea"/>
              </a:rPr>
              <a:t>HumanEval</a:t>
            </a:r>
            <a:r>
              <a:rPr lang="ko-KR" altLang="en-US" sz="3200" dirty="0">
                <a:ea typeface="+mj-ea"/>
              </a:rPr>
              <a:t>에서 </a:t>
            </a:r>
            <a:r>
              <a:rPr lang="en-US" altLang="ko-KR" sz="3200" dirty="0">
                <a:ea typeface="+mj-ea"/>
              </a:rPr>
              <a:t>95% </a:t>
            </a:r>
            <a:r>
              <a:rPr lang="ko-KR" altLang="en-US" sz="3200" dirty="0">
                <a:ea typeface="+mj-ea"/>
              </a:rPr>
              <a:t>이상의 </a:t>
            </a:r>
            <a:r>
              <a:rPr lang="ko-KR" altLang="en-US" sz="3200" dirty="0" err="1">
                <a:ea typeface="+mj-ea"/>
              </a:rPr>
              <a:t>정답률을</a:t>
            </a:r>
            <a:r>
              <a:rPr lang="ko-KR" altLang="en-US" sz="3200" dirty="0">
                <a:ea typeface="+mj-ea"/>
              </a:rPr>
              <a:t> 기록하며 포화 상태에 이르렀다</a:t>
            </a:r>
            <a:r>
              <a:rPr lang="en-US" altLang="ko-KR" sz="3200" dirty="0">
                <a:ea typeface="+mj-ea"/>
              </a:rPr>
              <a:t>. </a:t>
            </a:r>
          </a:p>
          <a:p>
            <a:r>
              <a:rPr lang="ko-KR" altLang="en-US" sz="3200" dirty="0">
                <a:ea typeface="+mj-ea"/>
              </a:rPr>
              <a:t> 이제 </a:t>
            </a:r>
            <a:r>
              <a:rPr lang="en-US" altLang="ko-KR" sz="3200" dirty="0">
                <a:ea typeface="+mj-ea"/>
              </a:rPr>
              <a:t>LLM</a:t>
            </a:r>
            <a:r>
              <a:rPr lang="ko-KR" altLang="en-US" sz="3200" dirty="0">
                <a:ea typeface="+mj-ea"/>
              </a:rPr>
              <a:t>은 단순한 </a:t>
            </a:r>
            <a:r>
              <a:rPr lang="en-US" altLang="ko-KR" sz="3200" dirty="0">
                <a:ea typeface="+mj-ea"/>
              </a:rPr>
              <a:t>'</a:t>
            </a:r>
            <a:r>
              <a:rPr lang="ko-KR" altLang="en-US" sz="3200" dirty="0">
                <a:ea typeface="+mj-ea"/>
              </a:rPr>
              <a:t>코드 자동 완성</a:t>
            </a:r>
            <a:r>
              <a:rPr lang="en-US" altLang="ko-KR" sz="3200" dirty="0">
                <a:ea typeface="+mj-ea"/>
              </a:rPr>
              <a:t>'</a:t>
            </a:r>
            <a:r>
              <a:rPr lang="ko-KR" altLang="en-US" sz="3200" dirty="0">
                <a:ea typeface="+mj-ea"/>
              </a:rPr>
              <a:t>을 넘어</a:t>
            </a:r>
            <a:r>
              <a:rPr lang="en-US" altLang="ko-KR" sz="3200" dirty="0">
                <a:ea typeface="+mj-ea"/>
              </a:rPr>
              <a:t>, </a:t>
            </a:r>
            <a:r>
              <a:rPr lang="ko-KR" altLang="en-US" sz="3200" dirty="0">
                <a:ea typeface="+mj-ea"/>
              </a:rPr>
              <a:t>개발자의 자연어 의도를 이해하고 복잡한 아키텍처를 설계하는 이른바 </a:t>
            </a:r>
            <a:r>
              <a:rPr lang="en-US" altLang="ko-KR" sz="3200" dirty="0">
                <a:ea typeface="+mj-ea"/>
              </a:rPr>
              <a:t>'</a:t>
            </a:r>
            <a:r>
              <a:rPr lang="ko-KR" altLang="en-US" sz="3200" dirty="0" err="1">
                <a:ea typeface="+mj-ea"/>
              </a:rPr>
              <a:t>바이브</a:t>
            </a:r>
            <a:r>
              <a:rPr lang="ko-KR" altLang="en-US" sz="3200" dirty="0">
                <a:ea typeface="+mj-ea"/>
              </a:rPr>
              <a:t> 코딩</a:t>
            </a:r>
            <a:r>
              <a:rPr lang="en-US" altLang="ko-KR" sz="3200" dirty="0">
                <a:ea typeface="+mj-ea"/>
              </a:rPr>
              <a:t>’ </a:t>
            </a:r>
            <a:r>
              <a:rPr lang="ko-KR" altLang="en-US" sz="3200" dirty="0">
                <a:ea typeface="+mj-ea"/>
              </a:rPr>
              <a:t>패러다임을 형성하고 있다</a:t>
            </a:r>
            <a:r>
              <a:rPr lang="en-US" altLang="ko-KR" sz="3200" dirty="0">
                <a:ea typeface="+mj-ea"/>
              </a:rPr>
              <a:t>. </a:t>
            </a:r>
            <a:endParaRPr lang="ko-KR" altLang="en-US" sz="3200" dirty="0">
              <a:ea typeface="+mj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10A15FF-F727-D119-EAC2-7329FEF0AEEF}"/>
              </a:ext>
            </a:extLst>
          </p:cNvPr>
          <p:cNvSpPr/>
          <p:nvPr/>
        </p:nvSpPr>
        <p:spPr>
          <a:xfrm>
            <a:off x="400049" y="15454188"/>
            <a:ext cx="15380724" cy="13538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FCAD09-2321-B5A1-7842-97150CAE5487}"/>
              </a:ext>
            </a:extLst>
          </p:cNvPr>
          <p:cNvSpPr txBox="1"/>
          <p:nvPr/>
        </p:nvSpPr>
        <p:spPr>
          <a:xfrm>
            <a:off x="747852" y="15715606"/>
            <a:ext cx="42960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연구 목적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C33C4B-A0F5-AFDE-7007-236ACF2CF260}"/>
              </a:ext>
            </a:extLst>
          </p:cNvPr>
          <p:cNvSpPr txBox="1"/>
          <p:nvPr/>
        </p:nvSpPr>
        <p:spPr>
          <a:xfrm>
            <a:off x="400046" y="17130997"/>
            <a:ext cx="153807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본 연구의 목적은 </a:t>
            </a:r>
            <a:r>
              <a:rPr lang="ko-KR" altLang="en-US" sz="3200" dirty="0" err="1"/>
              <a:t>언리얼</a:t>
            </a:r>
            <a:r>
              <a:rPr lang="ko-KR" altLang="en-US" sz="3200" dirty="0"/>
              <a:t> 엔진 </a:t>
            </a:r>
            <a:r>
              <a:rPr lang="en-US" altLang="ko-KR" sz="3200" dirty="0"/>
              <a:t>C++</a:t>
            </a:r>
            <a:r>
              <a:rPr lang="ko-KR" altLang="en-US" sz="3200" dirty="0"/>
              <a:t>라는 높은 기술적 진입 장벽을 가진 환경에서</a:t>
            </a:r>
            <a:r>
              <a:rPr lang="en-US" altLang="ko-KR" sz="3200" dirty="0"/>
              <a:t>, LLM </a:t>
            </a:r>
            <a:r>
              <a:rPr lang="ko-KR" altLang="en-US" sz="3200" dirty="0"/>
              <a:t>기반의 </a:t>
            </a:r>
            <a:r>
              <a:rPr lang="en-US" altLang="ko-KR" sz="3200" dirty="0"/>
              <a:t>'</a:t>
            </a:r>
            <a:r>
              <a:rPr lang="ko-KR" altLang="en-US" sz="3200" dirty="0" err="1"/>
              <a:t>바이브</a:t>
            </a:r>
            <a:r>
              <a:rPr lang="ko-KR" altLang="en-US" sz="3200" dirty="0"/>
              <a:t> 코딩</a:t>
            </a:r>
            <a:r>
              <a:rPr lang="en-US" altLang="ko-KR" sz="3200" dirty="0"/>
              <a:t>'</a:t>
            </a:r>
            <a:r>
              <a:rPr lang="ko-KR" altLang="en-US" sz="3200" dirty="0"/>
              <a:t>이 소규모 게임 프로젝트의 생산 한계선을 어떻게 </a:t>
            </a:r>
            <a:r>
              <a:rPr lang="ko-KR" altLang="en-US" sz="3200" dirty="0" err="1"/>
              <a:t>확장시키는지</a:t>
            </a:r>
            <a:r>
              <a:rPr lang="ko-KR" altLang="en-US" sz="3200" dirty="0"/>
              <a:t> 규명하는 데 있다</a:t>
            </a:r>
            <a:r>
              <a:rPr lang="en-US" altLang="ko-KR" sz="3200" dirty="0"/>
              <a:t>. </a:t>
            </a:r>
            <a:endParaRPr lang="ko-KR" altLang="en-US" sz="32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9EB9591-1F82-1AB2-ED2C-F799CCB3C2CD}"/>
              </a:ext>
            </a:extLst>
          </p:cNvPr>
          <p:cNvSpPr/>
          <p:nvPr/>
        </p:nvSpPr>
        <p:spPr>
          <a:xfrm>
            <a:off x="400047" y="19237665"/>
            <a:ext cx="15380724" cy="13538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A4148B-DE8F-4D42-946F-D59DC80CCE20}"/>
              </a:ext>
            </a:extLst>
          </p:cNvPr>
          <p:cNvSpPr txBox="1"/>
          <p:nvPr/>
        </p:nvSpPr>
        <p:spPr>
          <a:xfrm>
            <a:off x="747851" y="19529556"/>
            <a:ext cx="42960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연구 방법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62513C-9812-2017-89B7-8B41FDD40FA8}"/>
              </a:ext>
            </a:extLst>
          </p:cNvPr>
          <p:cNvSpPr txBox="1"/>
          <p:nvPr/>
        </p:nvSpPr>
        <p:spPr>
          <a:xfrm>
            <a:off x="400046" y="20914474"/>
            <a:ext cx="15380723" cy="561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600" b="1" dirty="0"/>
              <a:t>기초 공수</a:t>
            </a:r>
            <a:r>
              <a:rPr lang="en-US" altLang="ko-KR" sz="3600" b="1" dirty="0"/>
              <a:t>(Baseline) </a:t>
            </a:r>
            <a:r>
              <a:rPr lang="ko-KR" altLang="en-US" sz="3600" b="1" dirty="0"/>
              <a:t>대비 분석</a:t>
            </a:r>
            <a:endParaRPr lang="en-US" altLang="ko-KR" sz="3600" b="1" dirty="0"/>
          </a:p>
          <a:p>
            <a:pPr lvl="1">
              <a:lnSpc>
                <a:spcPct val="150000"/>
              </a:lnSpc>
            </a:pPr>
            <a:r>
              <a:rPr lang="en-US" altLang="ko-KR" sz="3200" dirty="0"/>
              <a:t>LLM</a:t>
            </a:r>
            <a:r>
              <a:rPr lang="ko-KR" altLang="en-US" sz="3200" dirty="0"/>
              <a:t>의 보조 없이 진행되었을 때의 예상 소요 시간과 실제 구현 시간을 비교한다</a:t>
            </a:r>
            <a:r>
              <a:rPr lang="en-US" altLang="ko-KR" sz="3200" dirty="0"/>
              <a:t>.</a:t>
            </a:r>
            <a:r>
              <a:rPr lang="ko-KR" altLang="en-US" sz="3200" dirty="0"/>
              <a:t> </a:t>
            </a:r>
            <a:endParaRPr lang="en-US" altLang="ko-KR" sz="3200" dirty="0"/>
          </a:p>
          <a:p>
            <a:endParaRPr lang="en-US" altLang="ko-KR" sz="1050" b="1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600" b="1" dirty="0"/>
              <a:t>기술 장벽 극복 사례 연구</a:t>
            </a:r>
            <a:endParaRPr lang="en-US" altLang="ko-KR" sz="3600" b="1" dirty="0"/>
          </a:p>
          <a:p>
            <a:pPr lvl="1"/>
            <a:r>
              <a:rPr lang="ko-KR" altLang="en-US" sz="3200" dirty="0"/>
              <a:t>개발자의 기존 숙련도만으로는 장시간이 소요되었을 작업을 </a:t>
            </a:r>
            <a:r>
              <a:rPr lang="en-US" altLang="ko-KR" sz="3200" dirty="0"/>
              <a:t>LLM</a:t>
            </a:r>
            <a:r>
              <a:rPr lang="ko-KR" altLang="en-US" sz="3200" dirty="0"/>
              <a:t>의 아키텍처 가이드를 통해 해결한 사례를 분석한다</a:t>
            </a:r>
            <a:r>
              <a:rPr lang="en-US" altLang="ko-KR" sz="3200" dirty="0"/>
              <a:t>.</a:t>
            </a:r>
          </a:p>
          <a:p>
            <a:pPr marL="1485900" lvl="2" indent="-571500">
              <a:buFontTx/>
              <a:buChar char="-"/>
            </a:pPr>
            <a:endParaRPr lang="ko-KR" altLang="en-US" sz="105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600" b="1" dirty="0"/>
              <a:t>실제 사례 기반 분석</a:t>
            </a:r>
            <a:endParaRPr lang="en-US" altLang="ko-KR" sz="3600" b="1" dirty="0"/>
          </a:p>
          <a:p>
            <a:pPr lvl="1"/>
            <a:r>
              <a:rPr lang="ko-KR" altLang="en-US" sz="3200" dirty="0"/>
              <a:t>본 연구팀의 졸업작품 </a:t>
            </a:r>
            <a:r>
              <a:rPr lang="en-US" altLang="ko-KR" sz="3200" dirty="0"/>
              <a:t>'Containment Cleanup Detail' </a:t>
            </a:r>
            <a:r>
              <a:rPr lang="ko-KR" altLang="en-US" sz="3200" dirty="0"/>
              <a:t>개발 과정 중 발생한 구체적인 에피소드 사례를 들어 </a:t>
            </a:r>
            <a:r>
              <a:rPr lang="en-US" altLang="ko-KR" sz="3200" dirty="0"/>
              <a:t>LLM</a:t>
            </a:r>
            <a:r>
              <a:rPr lang="ko-KR" altLang="en-US" sz="3200" dirty="0"/>
              <a:t>이 미친 영향을 서술한다</a:t>
            </a:r>
            <a:r>
              <a:rPr lang="en-US" altLang="ko-KR" sz="3200" dirty="0"/>
              <a:t>.</a:t>
            </a:r>
            <a:endParaRPr lang="ko-KR" altLang="en-US" sz="32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21EDCD8-F3DB-D4A3-62F3-858D3745E5A3}"/>
              </a:ext>
            </a:extLst>
          </p:cNvPr>
          <p:cNvSpPr/>
          <p:nvPr/>
        </p:nvSpPr>
        <p:spPr>
          <a:xfrm>
            <a:off x="400045" y="26854370"/>
            <a:ext cx="15380724" cy="13538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075576-21D5-05E7-4A68-233FAA7DE201}"/>
              </a:ext>
            </a:extLst>
          </p:cNvPr>
          <p:cNvSpPr txBox="1"/>
          <p:nvPr/>
        </p:nvSpPr>
        <p:spPr>
          <a:xfrm>
            <a:off x="747847" y="27115788"/>
            <a:ext cx="55958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연구 내용 및 사례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48A64C3-694A-7240-273F-1848AB41F054}"/>
              </a:ext>
            </a:extLst>
          </p:cNvPr>
          <p:cNvSpPr/>
          <p:nvPr/>
        </p:nvSpPr>
        <p:spPr>
          <a:xfrm>
            <a:off x="400045" y="28534697"/>
            <a:ext cx="900000" cy="90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96CD93-21FD-5108-0375-4A9A6E0CFBC4}"/>
              </a:ext>
            </a:extLst>
          </p:cNvPr>
          <p:cNvSpPr txBox="1"/>
          <p:nvPr/>
        </p:nvSpPr>
        <p:spPr>
          <a:xfrm>
            <a:off x="449082" y="28630754"/>
            <a:ext cx="8019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ko-KR" altLang="en-US" sz="4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72EDA1-7417-29AD-648C-C5DD6167E1AF}"/>
              </a:ext>
            </a:extLst>
          </p:cNvPr>
          <p:cNvSpPr txBox="1"/>
          <p:nvPr/>
        </p:nvSpPr>
        <p:spPr>
          <a:xfrm>
            <a:off x="1542882" y="28630754"/>
            <a:ext cx="12564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Chaos Destruction </a:t>
            </a:r>
            <a:r>
              <a:rPr lang="ko-KR" altLang="en-US" sz="4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기반 캐릭터 파편화</a:t>
            </a:r>
            <a:r>
              <a:rPr lang="en-US" altLang="ko-KR" sz="4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4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및 </a:t>
            </a:r>
            <a:r>
              <a:rPr lang="ko-KR" altLang="en-US" sz="4000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액터화</a:t>
            </a:r>
            <a:r>
              <a:rPr lang="ko-KR" altLang="en-US" sz="4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시스템</a:t>
            </a:r>
            <a:endParaRPr lang="ko-KR" altLang="en-US" sz="4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B77B5E-A771-BDD9-D14B-E0204474C91F}"/>
              </a:ext>
            </a:extLst>
          </p:cNvPr>
          <p:cNvSpPr txBox="1"/>
          <p:nvPr/>
        </p:nvSpPr>
        <p:spPr>
          <a:xfrm>
            <a:off x="400046" y="29683361"/>
            <a:ext cx="15380722" cy="12749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본 프로젝트는 청소 및 수거</a:t>
            </a:r>
            <a:r>
              <a:rPr lang="en-US" altLang="ko-KR" sz="3200" dirty="0"/>
              <a:t>, </a:t>
            </a:r>
            <a:r>
              <a:rPr lang="ko-KR" altLang="en-US" sz="3200" dirty="0"/>
              <a:t>그리고 이를 방해하는 적대적 개체</a:t>
            </a:r>
            <a:r>
              <a:rPr lang="en-US" altLang="ko-KR" sz="3200" dirty="0"/>
              <a:t>(SCP)</a:t>
            </a:r>
            <a:r>
              <a:rPr lang="ko-KR" altLang="en-US" sz="3200" dirty="0"/>
              <a:t>와의 상호작용이 핵심 게임성</a:t>
            </a:r>
            <a:r>
              <a:rPr lang="en-US" altLang="ko-KR" sz="3200" dirty="0"/>
              <a:t>(Gameplay)</a:t>
            </a:r>
            <a:r>
              <a:rPr lang="ko-KR" altLang="en-US" sz="3200" dirty="0"/>
              <a:t>을 구성하기에 </a:t>
            </a:r>
            <a:r>
              <a:rPr lang="ko-KR" altLang="en-US" sz="3200" dirty="0" err="1"/>
              <a:t>언리얼</a:t>
            </a:r>
            <a:r>
              <a:rPr lang="ko-KR" altLang="en-US" sz="3200" dirty="0"/>
              <a:t> 엔진의 </a:t>
            </a:r>
            <a:r>
              <a:rPr lang="en-US" altLang="ko-KR" sz="3200" dirty="0"/>
              <a:t>Chaos Destruction </a:t>
            </a:r>
            <a:r>
              <a:rPr lang="ko-KR" altLang="en-US" sz="3200" dirty="0"/>
              <a:t>시스템을 활용하여 캐릭터 </a:t>
            </a:r>
            <a:r>
              <a:rPr lang="ko-KR" altLang="en-US" sz="3200" dirty="0" err="1"/>
              <a:t>메쉬를</a:t>
            </a:r>
            <a:r>
              <a:rPr lang="ko-KR" altLang="en-US" sz="3200" dirty="0"/>
              <a:t> 파편화하고</a:t>
            </a:r>
            <a:r>
              <a:rPr lang="en-US" altLang="ko-KR" sz="3200" dirty="0"/>
              <a:t>, </a:t>
            </a:r>
            <a:r>
              <a:rPr lang="ko-KR" altLang="en-US" sz="3200" dirty="0"/>
              <a:t>생성된 각 파편에 개별적인 물리 속성을 부여하여 상호작용 가능한 독립적 </a:t>
            </a:r>
            <a:r>
              <a:rPr lang="ko-KR" altLang="en-US" sz="3200" dirty="0" err="1"/>
              <a:t>액터</a:t>
            </a:r>
            <a:r>
              <a:rPr lang="en-US" altLang="ko-KR" sz="3200" dirty="0"/>
              <a:t>(Actor)</a:t>
            </a:r>
            <a:r>
              <a:rPr lang="ko-KR" altLang="en-US" sz="3200" dirty="0"/>
              <a:t>로 변환하는 것을 목표로 하였다</a:t>
            </a:r>
            <a:r>
              <a:rPr lang="en-US" altLang="ko-KR" sz="3200" dirty="0"/>
              <a:t>.</a:t>
            </a:r>
            <a:endParaRPr lang="ko-KR" altLang="en-US" sz="3200" dirty="0"/>
          </a:p>
          <a:p>
            <a:r>
              <a:rPr lang="ko-KR" altLang="en-US" sz="3200" dirty="0"/>
              <a:t> </a:t>
            </a:r>
            <a:r>
              <a:rPr lang="en-US" altLang="ko-KR" sz="3200" dirty="0"/>
              <a:t>	</a:t>
            </a:r>
          </a:p>
          <a:p>
            <a:r>
              <a:rPr lang="en-US" altLang="ko-KR" sz="3600" b="1" dirty="0"/>
              <a:t>1</a:t>
            </a:r>
            <a:r>
              <a:rPr lang="ko-KR" altLang="en-US" sz="3600" b="1" dirty="0"/>
              <a:t>단계</a:t>
            </a:r>
            <a:r>
              <a:rPr lang="en-US" altLang="ko-KR" sz="3600" b="1" dirty="0"/>
              <a:t>: Chaos Geometry Collection </a:t>
            </a:r>
            <a:r>
              <a:rPr lang="ko-KR" altLang="en-US" sz="3600" b="1" dirty="0"/>
              <a:t>생성</a:t>
            </a:r>
            <a:endParaRPr lang="ko-KR" altLang="en-US" sz="3200" b="1" dirty="0"/>
          </a:p>
          <a:p>
            <a:r>
              <a:rPr lang="ko-KR" altLang="en-US" sz="3200" dirty="0"/>
              <a:t>해당 단계에서는 </a:t>
            </a:r>
            <a:r>
              <a:rPr lang="en-US" altLang="ko-KR" sz="3200" dirty="0"/>
              <a:t>LLM</a:t>
            </a:r>
            <a:r>
              <a:rPr lang="ko-KR" altLang="en-US" sz="3200" dirty="0"/>
              <a:t>의 직접적인 활용보다는 개발자의 수동 작업 비중이 높았다</a:t>
            </a:r>
            <a:r>
              <a:rPr lang="en-US" altLang="ko-KR" sz="3200" dirty="0"/>
              <a:t>. </a:t>
            </a:r>
            <a:r>
              <a:rPr lang="ko-KR" altLang="en-US" sz="3200" dirty="0" err="1"/>
              <a:t>언리얼</a:t>
            </a:r>
            <a:r>
              <a:rPr lang="ko-KR" altLang="en-US" sz="3200" dirty="0"/>
              <a:t> 엔진의 </a:t>
            </a:r>
            <a:r>
              <a:rPr lang="en-US" altLang="ko-KR" sz="3200" dirty="0"/>
              <a:t>Fracture Mode</a:t>
            </a:r>
            <a:r>
              <a:rPr lang="ko-KR" altLang="en-US" sz="3200" dirty="0"/>
              <a:t>를 통해 캐릭터 </a:t>
            </a:r>
            <a:r>
              <a:rPr lang="ko-KR" altLang="en-US" sz="3200" dirty="0" err="1"/>
              <a:t>메쉬의</a:t>
            </a:r>
            <a:r>
              <a:rPr lang="ko-KR" altLang="en-US" sz="3200" dirty="0"/>
              <a:t> 파편화 지점을 지정하고 하위 </a:t>
            </a:r>
            <a:r>
              <a:rPr lang="ko-KR" altLang="en-US" sz="3200" dirty="0" err="1"/>
              <a:t>메쉬를</a:t>
            </a:r>
            <a:r>
              <a:rPr lang="ko-KR" altLang="en-US" sz="3200" dirty="0"/>
              <a:t> 생성하는 과정은 시각적 판단이 수반되는 작업이기 때문이다</a:t>
            </a:r>
            <a:r>
              <a:rPr lang="en-US" altLang="ko-KR" sz="3200" dirty="0"/>
              <a:t>. </a:t>
            </a:r>
            <a:r>
              <a:rPr lang="ko-KR" altLang="en-US" sz="3200" dirty="0"/>
              <a:t>이 공정을 통해 물리 기반 파편으로 치환될 기초 데이터를 확보하였다</a:t>
            </a:r>
            <a:r>
              <a:rPr lang="en-US" altLang="ko-KR" sz="3200" dirty="0"/>
              <a:t>.</a:t>
            </a:r>
            <a:endParaRPr lang="ko-KR" altLang="en-US" sz="3200" dirty="0"/>
          </a:p>
          <a:p>
            <a:r>
              <a:rPr lang="ko-KR" altLang="en-US" sz="3200" dirty="0"/>
              <a:t> </a:t>
            </a:r>
          </a:p>
          <a:p>
            <a:r>
              <a:rPr lang="en-US" altLang="ko-KR" sz="3600" b="1" dirty="0"/>
              <a:t>2</a:t>
            </a:r>
            <a:r>
              <a:rPr lang="ko-KR" altLang="en-US" sz="3600" b="1" dirty="0"/>
              <a:t>단계</a:t>
            </a:r>
            <a:r>
              <a:rPr lang="en-US" altLang="ko-KR" sz="3600" b="1" dirty="0"/>
              <a:t>: </a:t>
            </a:r>
            <a:r>
              <a:rPr lang="ko-KR" altLang="en-US" sz="3600" b="1" dirty="0"/>
              <a:t>파편의 </a:t>
            </a:r>
            <a:r>
              <a:rPr lang="ko-KR" altLang="en-US" sz="3600" b="1" dirty="0" err="1"/>
              <a:t>액터화</a:t>
            </a:r>
            <a:r>
              <a:rPr lang="ko-KR" altLang="en-US" sz="3600" b="1" dirty="0"/>
              <a:t> 및 물리 속성 부여</a:t>
            </a:r>
            <a:endParaRPr lang="ko-KR" altLang="en-US" sz="3200" dirty="0"/>
          </a:p>
          <a:p>
            <a:r>
              <a:rPr lang="ko-KR" altLang="en-US" sz="3200" dirty="0"/>
              <a:t>파편화된 </a:t>
            </a:r>
            <a:r>
              <a:rPr lang="en-US" altLang="ko-KR" sz="3200" dirty="0"/>
              <a:t>Geometry Collection </a:t>
            </a:r>
            <a:r>
              <a:rPr lang="ko-KR" altLang="en-US" sz="3200" dirty="0"/>
              <a:t>데이터 자체만으로는 독립적인 상호작용 및 세부 물리 효과 적용에 한계가 존재한다</a:t>
            </a:r>
            <a:r>
              <a:rPr lang="en-US" altLang="ko-KR" sz="3200" dirty="0"/>
              <a:t>. </a:t>
            </a:r>
            <a:r>
              <a:rPr lang="ko-KR" altLang="en-US" sz="3200" dirty="0"/>
              <a:t>따라서 상기 단계에서 생성된 파편 </a:t>
            </a:r>
            <a:r>
              <a:rPr lang="ko-KR" altLang="en-US" sz="3200" dirty="0" err="1"/>
              <a:t>메쉬를</a:t>
            </a:r>
            <a:r>
              <a:rPr lang="ko-KR" altLang="en-US" sz="3200" dirty="0"/>
              <a:t> 독립적인 </a:t>
            </a:r>
            <a:r>
              <a:rPr lang="ko-KR" altLang="en-US" sz="3200" dirty="0" err="1"/>
              <a:t>액터로</a:t>
            </a:r>
            <a:r>
              <a:rPr lang="ko-KR" altLang="en-US" sz="3200" dirty="0"/>
              <a:t> 전환하는 공정을 수행하였다</a:t>
            </a:r>
            <a:r>
              <a:rPr lang="en-US" altLang="ko-KR" sz="3200" dirty="0"/>
              <a:t>. </a:t>
            </a:r>
            <a:r>
              <a:rPr lang="ko-KR" altLang="en-US" sz="3200" dirty="0"/>
              <a:t>이 과정에서 </a:t>
            </a:r>
            <a:r>
              <a:rPr lang="en-US" altLang="ko-KR" sz="3200" dirty="0"/>
              <a:t>LLM</a:t>
            </a:r>
            <a:r>
              <a:rPr lang="ko-KR" altLang="en-US" sz="3200" dirty="0"/>
              <a:t>은 </a:t>
            </a:r>
            <a:r>
              <a:rPr lang="ko-KR" altLang="en-US" sz="3200" dirty="0" err="1"/>
              <a:t>스폰할</a:t>
            </a:r>
            <a:r>
              <a:rPr lang="ko-KR" altLang="en-US" sz="3200" dirty="0"/>
              <a:t> 파편 </a:t>
            </a:r>
            <a:r>
              <a:rPr lang="ko-KR" altLang="en-US" sz="3200" dirty="0" err="1"/>
              <a:t>메쉬</a:t>
            </a:r>
            <a:r>
              <a:rPr lang="ko-KR" altLang="en-US" sz="3200" dirty="0"/>
              <a:t> 리스트의 동적 생성 로직과 </a:t>
            </a:r>
            <a:r>
              <a:rPr lang="en-US" altLang="ko-KR" sz="3200" dirty="0" err="1"/>
              <a:t>SkeletalMeshComponent</a:t>
            </a:r>
            <a:r>
              <a:rPr lang="en-US" altLang="ko-KR" sz="3200" dirty="0"/>
              <a:t> </a:t>
            </a:r>
            <a:r>
              <a:rPr lang="ko-KR" altLang="en-US" sz="3200" dirty="0"/>
              <a:t>기반의 </a:t>
            </a:r>
            <a:r>
              <a:rPr lang="ko-KR" altLang="en-US" sz="3200" dirty="0" err="1"/>
              <a:t>액터</a:t>
            </a:r>
            <a:r>
              <a:rPr lang="ko-KR" altLang="en-US" sz="3200" dirty="0"/>
              <a:t> 클래스 구조 설계에 활용되었다</a:t>
            </a:r>
            <a:r>
              <a:rPr lang="en-US" altLang="ko-KR" sz="3200" dirty="0"/>
              <a:t>. </a:t>
            </a:r>
            <a:r>
              <a:rPr lang="ko-KR" altLang="en-US" sz="3200" dirty="0"/>
              <a:t>특히 시체 파편에 </a:t>
            </a:r>
            <a:r>
              <a:rPr lang="en-US" altLang="ko-KR" sz="3200" dirty="0"/>
              <a:t>Ragdoll </a:t>
            </a:r>
            <a:r>
              <a:rPr lang="ko-KR" altLang="en-US" sz="3200" dirty="0"/>
              <a:t>효과를 부여하기 위한 </a:t>
            </a:r>
            <a:r>
              <a:rPr lang="en-US" altLang="ko-KR" sz="3200" dirty="0"/>
              <a:t>LLM</a:t>
            </a:r>
            <a:r>
              <a:rPr lang="ko-KR" altLang="en-US" sz="3200" dirty="0"/>
              <a:t>의 기술적 제언은 실증적으로 유효함을 확인하였다</a:t>
            </a:r>
            <a:r>
              <a:rPr lang="en-US" altLang="ko-KR" sz="3200" dirty="0"/>
              <a:t>. </a:t>
            </a:r>
            <a:r>
              <a:rPr lang="ko-KR" altLang="en-US" sz="3200" dirty="0"/>
              <a:t>물리 효과의 정밀도를 높이기 위한 </a:t>
            </a:r>
            <a:r>
              <a:rPr lang="en-US" altLang="ko-KR" sz="3200" dirty="0"/>
              <a:t>Physics Asset </a:t>
            </a:r>
            <a:r>
              <a:rPr lang="ko-KR" altLang="en-US" sz="3200" dirty="0"/>
              <a:t>생성 및 </a:t>
            </a:r>
            <a:r>
              <a:rPr lang="en-US" altLang="ko-KR" sz="3200" dirty="0"/>
              <a:t>Skin Weight </a:t>
            </a:r>
            <a:r>
              <a:rPr lang="ko-KR" altLang="en-US" sz="3200" dirty="0"/>
              <a:t>조정은 개발자가 직접 수행하였으나</a:t>
            </a:r>
            <a:r>
              <a:rPr lang="en-US" altLang="ko-KR" sz="3200" dirty="0"/>
              <a:t>, </a:t>
            </a:r>
            <a:r>
              <a:rPr lang="ko-KR" altLang="en-US" sz="3200" dirty="0"/>
              <a:t>이를 제어하는 시스템 코드 작성 영역에서는 </a:t>
            </a:r>
            <a:r>
              <a:rPr lang="en-US" altLang="ko-KR" sz="3200" dirty="0"/>
              <a:t>LLM</a:t>
            </a:r>
            <a:r>
              <a:rPr lang="ko-KR" altLang="en-US" sz="3200" dirty="0"/>
              <a:t>이 결정적인 기여를 하였다</a:t>
            </a:r>
            <a:r>
              <a:rPr lang="en-US" altLang="ko-KR" sz="3200" dirty="0"/>
              <a:t>.</a:t>
            </a:r>
          </a:p>
          <a:p>
            <a:endParaRPr lang="ko-KR" altLang="en-US" sz="3200" dirty="0"/>
          </a:p>
          <a:p>
            <a:r>
              <a:rPr lang="ko-KR" altLang="en-US" sz="3600" b="1" dirty="0"/>
              <a:t>개발 시간 단축 및 학습 비용 절감</a:t>
            </a:r>
            <a:endParaRPr lang="ko-KR" altLang="en-US" sz="3600" dirty="0"/>
          </a:p>
          <a:p>
            <a:r>
              <a:rPr lang="en-US" altLang="ko-KR" sz="3200" dirty="0"/>
              <a:t>LLM</a:t>
            </a:r>
            <a:r>
              <a:rPr lang="ko-KR" altLang="en-US" sz="3200" dirty="0"/>
              <a:t>은 숙련되지 않은 개발자가 초기 아키텍처를 설계하는 기존 방식 대비 약 </a:t>
            </a:r>
            <a:r>
              <a:rPr lang="en-US" altLang="ko-KR" sz="3200" dirty="0"/>
              <a:t>70% </a:t>
            </a:r>
            <a:r>
              <a:rPr lang="ko-KR" altLang="en-US" sz="3200" dirty="0"/>
              <a:t>이상의 시간 효율을 달성하였으며</a:t>
            </a:r>
            <a:r>
              <a:rPr lang="en-US" altLang="ko-KR" sz="3200" dirty="0"/>
              <a:t>, </a:t>
            </a:r>
            <a:r>
              <a:rPr lang="ko-KR" altLang="en-US" sz="3200" dirty="0"/>
              <a:t>이는 검색 및 시행착오에 소요되는 시간을 실제 구현 시간으로 전환했음을 의미한다</a:t>
            </a:r>
            <a:r>
              <a:rPr lang="en-US" altLang="ko-KR" sz="3200" dirty="0"/>
              <a:t>.</a:t>
            </a:r>
          </a:p>
          <a:p>
            <a:endParaRPr lang="en-US" altLang="ko-KR" sz="1050" b="1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DE5D971-E8B0-23CF-5EAD-8352E9CA4EDB}"/>
              </a:ext>
            </a:extLst>
          </p:cNvPr>
          <p:cNvSpPr/>
          <p:nvPr/>
        </p:nvSpPr>
        <p:spPr>
          <a:xfrm>
            <a:off x="16618517" y="27616333"/>
            <a:ext cx="15380724" cy="13538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59C3437-9C9E-61C1-908C-729ECCA68E8C}"/>
              </a:ext>
            </a:extLst>
          </p:cNvPr>
          <p:cNvSpPr txBox="1"/>
          <p:nvPr/>
        </p:nvSpPr>
        <p:spPr>
          <a:xfrm>
            <a:off x="16966321" y="27908224"/>
            <a:ext cx="42960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한계점 및 결론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9F5761-F99F-35D4-6286-D5B2FE70B4A1}"/>
              </a:ext>
            </a:extLst>
          </p:cNvPr>
          <p:cNvSpPr txBox="1"/>
          <p:nvPr/>
        </p:nvSpPr>
        <p:spPr>
          <a:xfrm>
            <a:off x="16618515" y="29262059"/>
            <a:ext cx="15380722" cy="13080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/>
              <a:t>외부 </a:t>
            </a:r>
            <a:r>
              <a:rPr lang="en-US" altLang="ko-KR" sz="3600" b="1" dirty="0"/>
              <a:t>SDK </a:t>
            </a:r>
            <a:r>
              <a:rPr lang="ko-KR" altLang="en-US" sz="3600" b="1" dirty="0"/>
              <a:t>및 복합 네트워크 환경의 디버깅 한계</a:t>
            </a:r>
            <a:endParaRPr lang="ko-KR" altLang="en-US" sz="3600" dirty="0"/>
          </a:p>
          <a:p>
            <a:r>
              <a:rPr lang="ko-KR" altLang="en-US" sz="3200" dirty="0"/>
              <a:t>본 프로젝트에서 도입한 스팀 온라인 세션</a:t>
            </a:r>
            <a:r>
              <a:rPr lang="en-US" altLang="ko-KR" sz="3200" dirty="0"/>
              <a:t>(Steam Online Session) </a:t>
            </a:r>
            <a:r>
              <a:rPr lang="ko-KR" altLang="en-US" sz="3200" dirty="0"/>
              <a:t>구현 과정에서 </a:t>
            </a:r>
            <a:r>
              <a:rPr lang="en-US" altLang="ko-KR" sz="3200" dirty="0"/>
              <a:t>LLM</a:t>
            </a:r>
            <a:r>
              <a:rPr lang="ko-KR" altLang="en-US" sz="3200" dirty="0"/>
              <a:t>은 명확한 해결책을 제시하는 데 한계를 보였다</a:t>
            </a:r>
            <a:r>
              <a:rPr lang="en-US" altLang="ko-KR" sz="3200" dirty="0"/>
              <a:t>.</a:t>
            </a:r>
            <a:r>
              <a:rPr lang="ko-KR" altLang="en-US" sz="3200" dirty="0"/>
              <a:t> </a:t>
            </a:r>
            <a:endParaRPr lang="en-US" altLang="ko-KR" sz="3200" dirty="0"/>
          </a:p>
          <a:p>
            <a:r>
              <a:rPr lang="ko-KR" altLang="en-US" sz="3200" dirty="0"/>
              <a:t> </a:t>
            </a:r>
          </a:p>
          <a:p>
            <a:r>
              <a:rPr lang="ko-KR" altLang="en-US" sz="3600" b="1" dirty="0"/>
              <a:t>기술적 </a:t>
            </a:r>
            <a:r>
              <a:rPr lang="ko-KR" altLang="en-US" sz="3600" b="1" dirty="0" err="1"/>
              <a:t>할루시네이션과</a:t>
            </a:r>
            <a:r>
              <a:rPr lang="ko-KR" altLang="en-US" sz="3600" b="1" dirty="0"/>
              <a:t> 버전 파편화 문제</a:t>
            </a:r>
            <a:endParaRPr lang="ko-KR" altLang="en-US" sz="3600" dirty="0"/>
          </a:p>
          <a:p>
            <a:r>
              <a:rPr lang="ko-KR" altLang="en-US" sz="3200" dirty="0"/>
              <a:t>개발 과정에서 </a:t>
            </a:r>
            <a:r>
              <a:rPr lang="en-US" altLang="ko-KR" sz="3200" dirty="0"/>
              <a:t>LLM</a:t>
            </a:r>
            <a:r>
              <a:rPr lang="ko-KR" altLang="en-US" sz="3200" dirty="0"/>
              <a:t>은 명시적인 버전 지정에도 불구하고 잘못된 정보를 제공하는 </a:t>
            </a:r>
            <a:r>
              <a:rPr lang="ko-KR" altLang="en-US" sz="3200" dirty="0" err="1"/>
              <a:t>할루시네이션</a:t>
            </a:r>
            <a:r>
              <a:rPr lang="ko-KR" altLang="en-US" sz="3200" dirty="0"/>
              <a:t> 현상을 보였다</a:t>
            </a:r>
            <a:r>
              <a:rPr lang="en-US" altLang="ko-KR" sz="3200" dirty="0"/>
              <a:t>. </a:t>
            </a:r>
            <a:r>
              <a:rPr lang="ko-KR" altLang="en-US" sz="3200" dirty="0"/>
              <a:t>프롬프트에 </a:t>
            </a:r>
            <a:r>
              <a:rPr lang="en-US" altLang="ko-KR" sz="3200" dirty="0"/>
              <a:t>'Unreal Engine 5.7'</a:t>
            </a:r>
            <a:r>
              <a:rPr lang="ko-KR" altLang="en-US" sz="3200" dirty="0"/>
              <a:t>를 명시하였음에도</a:t>
            </a:r>
            <a:r>
              <a:rPr lang="en-US" altLang="ko-KR" sz="3200" dirty="0"/>
              <a:t>, </a:t>
            </a:r>
            <a:r>
              <a:rPr lang="ko-KR" altLang="en-US" sz="3200" dirty="0"/>
              <a:t>최신 </a:t>
            </a:r>
            <a:r>
              <a:rPr lang="en-US" altLang="ko-KR" sz="3200" dirty="0"/>
              <a:t>API</a:t>
            </a:r>
            <a:r>
              <a:rPr lang="ko-KR" altLang="en-US" sz="3200" dirty="0"/>
              <a:t>와의 호환성이 결여된 구 버전</a:t>
            </a:r>
            <a:r>
              <a:rPr lang="en-US" altLang="ko-KR" sz="3200" dirty="0"/>
              <a:t>(UE4)</a:t>
            </a:r>
            <a:r>
              <a:rPr lang="ko-KR" altLang="en-US" sz="3200" dirty="0"/>
              <a:t>의 함수를 제안하는 등의 사례가 빈번히 발생하였다</a:t>
            </a:r>
            <a:r>
              <a:rPr lang="en-US" altLang="ko-KR" sz="3200" dirty="0"/>
              <a:t>. </a:t>
            </a:r>
            <a:r>
              <a:rPr lang="ko-KR" altLang="en-US" sz="3200" dirty="0"/>
              <a:t>이에 개발자가 컴파일 에러를 직접 수정하기 위해 다시 공식 문서를 교차 검증해야 하는 </a:t>
            </a:r>
            <a:r>
              <a:rPr lang="en-US" altLang="ko-KR" sz="3200" dirty="0"/>
              <a:t>'</a:t>
            </a:r>
            <a:r>
              <a:rPr lang="ko-KR" altLang="en-US" sz="3200" dirty="0"/>
              <a:t>역</a:t>
            </a:r>
            <a:r>
              <a:rPr lang="en-US" altLang="ko-KR" sz="3200" dirty="0"/>
              <a:t>(</a:t>
            </a:r>
            <a:r>
              <a:rPr lang="ko-KR" altLang="en-US" sz="3200" dirty="0"/>
              <a:t>逆</a:t>
            </a:r>
            <a:r>
              <a:rPr lang="en-US" altLang="ko-KR" sz="3200" dirty="0"/>
              <a:t>) </a:t>
            </a:r>
            <a:r>
              <a:rPr lang="ko-KR" altLang="en-US" sz="3200" dirty="0"/>
              <a:t>효율성</a:t>
            </a:r>
            <a:r>
              <a:rPr lang="en-US" altLang="ko-KR" sz="3200" dirty="0"/>
              <a:t>'</a:t>
            </a:r>
            <a:r>
              <a:rPr lang="ko-KR" altLang="en-US" sz="3200" dirty="0"/>
              <a:t>이 발생하였다</a:t>
            </a:r>
            <a:r>
              <a:rPr lang="en-US" altLang="ko-KR" sz="3200" dirty="0"/>
              <a:t>. </a:t>
            </a:r>
            <a:endParaRPr lang="ko-KR" altLang="en-US" sz="3200" dirty="0"/>
          </a:p>
          <a:p>
            <a:r>
              <a:rPr lang="ko-KR" altLang="en-US" sz="3200" dirty="0"/>
              <a:t> </a:t>
            </a:r>
            <a:endParaRPr lang="en-US" altLang="ko-KR" sz="3200" dirty="0"/>
          </a:p>
          <a:p>
            <a:r>
              <a:rPr lang="ko-KR" altLang="en-US" sz="3600" b="1" dirty="0"/>
              <a:t>대화의 관성과 문맥 오염 </a:t>
            </a:r>
            <a:r>
              <a:rPr lang="en-US" altLang="ko-KR" sz="3600" b="1" dirty="0"/>
              <a:t>(Context Contamination)</a:t>
            </a:r>
            <a:endParaRPr lang="ko-KR" altLang="en-US" sz="3600" dirty="0"/>
          </a:p>
          <a:p>
            <a:r>
              <a:rPr lang="en-US" altLang="ko-KR" sz="3200" dirty="0"/>
              <a:t>LLM</a:t>
            </a:r>
            <a:r>
              <a:rPr lang="ko-KR" altLang="en-US" sz="3200" dirty="0"/>
              <a:t>과의 장기적인 협업 과정에서 발생하는 </a:t>
            </a:r>
            <a:r>
              <a:rPr lang="en-US" altLang="ko-KR" sz="3200" dirty="0"/>
              <a:t>'</a:t>
            </a:r>
            <a:r>
              <a:rPr lang="ko-KR" altLang="en-US" sz="3200" dirty="0"/>
              <a:t>정보 고착화</a:t>
            </a:r>
            <a:r>
              <a:rPr lang="en-US" altLang="ko-KR" sz="3200" dirty="0"/>
              <a:t>' </a:t>
            </a:r>
            <a:r>
              <a:rPr lang="ko-KR" altLang="en-US" sz="3200" dirty="0"/>
              <a:t>현상은 개발의 유연성을 떨어뜨리는 또 다른 한계점으로 나타났다</a:t>
            </a:r>
            <a:r>
              <a:rPr lang="en-US" altLang="ko-KR" sz="3200" dirty="0"/>
              <a:t>.</a:t>
            </a:r>
            <a:r>
              <a:rPr lang="ko-KR" altLang="en-US" sz="3200" dirty="0"/>
              <a:t> 대화가 길어질수록 </a:t>
            </a:r>
            <a:r>
              <a:rPr lang="en-US" altLang="ko-KR" sz="3200" dirty="0"/>
              <a:t>LLM</a:t>
            </a:r>
            <a:r>
              <a:rPr lang="ko-KR" altLang="en-US" sz="3200" dirty="0"/>
              <a:t>은 이전 발화</a:t>
            </a:r>
            <a:r>
              <a:rPr lang="en-US" altLang="ko-KR" sz="3200" dirty="0"/>
              <a:t>(Utterance)</a:t>
            </a:r>
            <a:r>
              <a:rPr lang="ko-KR" altLang="en-US" sz="3200" dirty="0"/>
              <a:t>에서 형성된 맥락에 과도하게 의존하는 경향을 보였다</a:t>
            </a:r>
            <a:r>
              <a:rPr lang="en-US" altLang="ko-KR" sz="3200" dirty="0"/>
              <a:t>. </a:t>
            </a:r>
            <a:r>
              <a:rPr lang="ko-KR" altLang="en-US" sz="3200" dirty="0"/>
              <a:t>이로 인해 개발자가 명확히 새로운 기준이나 수정된 라이브러리 정보를 제공하더라도</a:t>
            </a:r>
            <a:r>
              <a:rPr lang="en-US" altLang="ko-KR" sz="3200" dirty="0"/>
              <a:t>, </a:t>
            </a:r>
            <a:r>
              <a:rPr lang="ko-KR" altLang="en-US" sz="3200" dirty="0"/>
              <a:t>모델이 이전 답변의 코드 구조를 반복 출력하거나 수정 사항을 누락하는 </a:t>
            </a:r>
            <a:r>
              <a:rPr lang="en-US" altLang="ko-KR" sz="3200" dirty="0"/>
              <a:t>'</a:t>
            </a:r>
            <a:r>
              <a:rPr lang="ko-KR" altLang="en-US" sz="3200" dirty="0"/>
              <a:t>대화의 관성</a:t>
            </a:r>
            <a:r>
              <a:rPr lang="en-US" altLang="ko-KR" sz="3200" dirty="0"/>
              <a:t>' </a:t>
            </a:r>
            <a:r>
              <a:rPr lang="ko-KR" altLang="en-US" sz="3200" dirty="0"/>
              <a:t>현상이 발생하여 불필요하게 반복해서 수정사항을 지시해야 했고</a:t>
            </a:r>
            <a:r>
              <a:rPr lang="en-US" altLang="ko-KR" sz="3200" dirty="0"/>
              <a:t>, </a:t>
            </a:r>
            <a:r>
              <a:rPr lang="ko-KR" altLang="en-US" sz="3200" dirty="0"/>
              <a:t>때때로 대화 기록을 초기화하고 새로운 세션을 시작해야 하는 상황이 빈번하는 등 재입력 비용이 필요했다</a:t>
            </a:r>
            <a:r>
              <a:rPr lang="en-US" altLang="ko-KR" sz="3200" dirty="0"/>
              <a:t>.</a:t>
            </a:r>
          </a:p>
          <a:p>
            <a:endParaRPr lang="en-US" altLang="ko-KR" sz="3200" dirty="0"/>
          </a:p>
          <a:p>
            <a:r>
              <a:rPr lang="ko-KR" altLang="en-US" sz="3600" b="1" dirty="0"/>
              <a:t>결론</a:t>
            </a:r>
            <a:endParaRPr lang="ko-KR" altLang="en-US" sz="3600" dirty="0"/>
          </a:p>
          <a:p>
            <a:r>
              <a:rPr lang="ko-KR" altLang="en-US" sz="3200" dirty="0"/>
              <a:t>위와 같은 한계점들은 </a:t>
            </a:r>
            <a:r>
              <a:rPr lang="en-US" altLang="ko-KR" sz="3200" dirty="0"/>
              <a:t>LLM </a:t>
            </a:r>
            <a:r>
              <a:rPr lang="ko-KR" altLang="en-US" sz="3200" dirty="0"/>
              <a:t>기반 개발 환경에서 개발자의 역할이 </a:t>
            </a:r>
            <a:r>
              <a:rPr lang="en-US" altLang="ko-KR" sz="3200" dirty="0"/>
              <a:t>'</a:t>
            </a:r>
            <a:r>
              <a:rPr lang="ko-KR" altLang="en-US" sz="3200" dirty="0"/>
              <a:t>작성</a:t>
            </a:r>
            <a:r>
              <a:rPr lang="en-US" altLang="ko-KR" sz="3200" dirty="0"/>
              <a:t>'</a:t>
            </a:r>
            <a:r>
              <a:rPr lang="ko-KR" altLang="en-US" sz="3200" dirty="0"/>
              <a:t>에서 </a:t>
            </a:r>
            <a:r>
              <a:rPr lang="en-US" altLang="ko-KR" sz="3200" dirty="0"/>
              <a:t>'</a:t>
            </a:r>
            <a:r>
              <a:rPr lang="ko-KR" altLang="en-US" sz="3200" dirty="0"/>
              <a:t>검토 및 검증</a:t>
            </a:r>
            <a:r>
              <a:rPr lang="en-US" altLang="ko-KR" sz="3200" dirty="0"/>
              <a:t>'</a:t>
            </a:r>
            <a:r>
              <a:rPr lang="ko-KR" altLang="en-US" sz="3200" dirty="0"/>
              <a:t>으로 변화해야 함을 시사한다</a:t>
            </a:r>
            <a:r>
              <a:rPr lang="en-US" altLang="ko-KR" sz="3200" dirty="0"/>
              <a:t>. </a:t>
            </a:r>
          </a:p>
          <a:p>
            <a:r>
              <a:rPr lang="ko-KR" altLang="en-US" sz="3200" dirty="0"/>
              <a:t>개발자 개인의 도메인 지식</a:t>
            </a:r>
            <a:r>
              <a:rPr lang="en-US" altLang="ko-KR" sz="3200" dirty="0"/>
              <a:t>(Domain Knowledge)</a:t>
            </a:r>
            <a:r>
              <a:rPr lang="ko-KR" altLang="en-US" sz="3200" dirty="0"/>
              <a:t>이 전제되어야만 진정한 효율성 향상을 기대할 수 있으며</a:t>
            </a:r>
            <a:r>
              <a:rPr lang="en-US" altLang="ko-KR" sz="3200" dirty="0"/>
              <a:t>,</a:t>
            </a:r>
            <a:r>
              <a:rPr lang="ko-KR" altLang="en-US" sz="3200" dirty="0"/>
              <a:t> 아직 </a:t>
            </a:r>
            <a:r>
              <a:rPr lang="en-US" altLang="ko-KR" sz="3200" dirty="0"/>
              <a:t>LLM</a:t>
            </a:r>
            <a:r>
              <a:rPr lang="ko-KR" altLang="en-US" sz="3200" dirty="0"/>
              <a:t>은 개발자를 완전히 대체할 수 없고</a:t>
            </a:r>
            <a:r>
              <a:rPr lang="en-US" altLang="ko-KR" sz="3200" dirty="0"/>
              <a:t>, </a:t>
            </a:r>
            <a:r>
              <a:rPr lang="ko-KR" altLang="en-US" sz="3200" dirty="0"/>
              <a:t>개발자의 역량에 따라 그 활용 가치가 결정되는 고도의 </a:t>
            </a:r>
            <a:r>
              <a:rPr lang="en-US" altLang="ko-KR" sz="3200" dirty="0"/>
              <a:t>'</a:t>
            </a:r>
            <a:r>
              <a:rPr lang="ko-KR" altLang="en-US" sz="3200" dirty="0"/>
              <a:t>지능형 도구</a:t>
            </a:r>
            <a:r>
              <a:rPr lang="en-US" altLang="ko-KR" sz="3200" dirty="0"/>
              <a:t>'</a:t>
            </a:r>
            <a:r>
              <a:rPr lang="ko-KR" altLang="en-US" sz="3200" dirty="0"/>
              <a:t>로서 기능함을 확인하였다</a:t>
            </a:r>
            <a:r>
              <a:rPr lang="en-US" altLang="ko-KR" sz="3200" dirty="0"/>
              <a:t>. </a:t>
            </a:r>
            <a:endParaRPr lang="ko-KR" altLang="en-US" sz="3200" dirty="0"/>
          </a:p>
        </p:txBody>
      </p:sp>
      <p:graphicFrame>
        <p:nvGraphicFramePr>
          <p:cNvPr id="54" name="차트 53">
            <a:extLst>
              <a:ext uri="{FF2B5EF4-FFF2-40B4-BE49-F238E27FC236}">
                <a16:creationId xmlns:a16="http://schemas.microsoft.com/office/drawing/2014/main" id="{DF56601F-1687-5162-6873-F6FCECE821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4962833"/>
              </p:ext>
            </p:extLst>
          </p:nvPr>
        </p:nvGraphicFramePr>
        <p:xfrm>
          <a:off x="16618515" y="8033113"/>
          <a:ext cx="15380722" cy="3402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5" name="타원 54">
            <a:extLst>
              <a:ext uri="{FF2B5EF4-FFF2-40B4-BE49-F238E27FC236}">
                <a16:creationId xmlns:a16="http://schemas.microsoft.com/office/drawing/2014/main" id="{3B61C5DE-8B9B-EFD1-3C77-F06A2C62D31E}"/>
              </a:ext>
            </a:extLst>
          </p:cNvPr>
          <p:cNvSpPr/>
          <p:nvPr/>
        </p:nvSpPr>
        <p:spPr>
          <a:xfrm>
            <a:off x="16618515" y="12120654"/>
            <a:ext cx="900000" cy="90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4005418-FA0A-3D77-DCC5-84757F290425}"/>
              </a:ext>
            </a:extLst>
          </p:cNvPr>
          <p:cNvSpPr txBox="1"/>
          <p:nvPr/>
        </p:nvSpPr>
        <p:spPr>
          <a:xfrm>
            <a:off x="16667552" y="12216711"/>
            <a:ext cx="8019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ko-KR" altLang="en-US" sz="4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7C9456-7012-1919-C017-17B01672CD08}"/>
              </a:ext>
            </a:extLst>
          </p:cNvPr>
          <p:cNvSpPr txBox="1"/>
          <p:nvPr/>
        </p:nvSpPr>
        <p:spPr>
          <a:xfrm>
            <a:off x="17761352" y="12216711"/>
            <a:ext cx="12564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LLM </a:t>
            </a:r>
            <a:r>
              <a:rPr lang="ko-KR" altLang="en-US" sz="4000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멀티모달</a:t>
            </a:r>
            <a:r>
              <a:rPr lang="ko-KR" altLang="en-US" sz="4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기능을 활용한 시각적 로직의 코드 변환</a:t>
            </a:r>
            <a:endParaRPr lang="ko-KR" altLang="en-US" sz="4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22985B-4C8A-3A30-6997-E4B442E3F76A}"/>
              </a:ext>
            </a:extLst>
          </p:cNvPr>
          <p:cNvSpPr txBox="1"/>
          <p:nvPr/>
        </p:nvSpPr>
        <p:spPr>
          <a:xfrm>
            <a:off x="16618515" y="13475535"/>
            <a:ext cx="15380722" cy="13634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본 연구에서는 소규모 게임 개발 과정에서 성능 최적화와 개발 속도 사이의 간극을 줄이기 위해</a:t>
            </a:r>
            <a:r>
              <a:rPr lang="en-US" altLang="ko-KR" sz="3200" dirty="0"/>
              <a:t>, LLM</a:t>
            </a:r>
            <a:r>
              <a:rPr lang="ko-KR" altLang="en-US" sz="3200" dirty="0"/>
              <a:t>의 이미지 인식 기능을 활용한 노드 분석 및 </a:t>
            </a:r>
            <a:r>
              <a:rPr lang="en-US" altLang="ko-KR" sz="3200" dirty="0"/>
              <a:t>C++ </a:t>
            </a:r>
            <a:r>
              <a:rPr lang="ko-KR" altLang="en-US" sz="3200" dirty="0"/>
              <a:t>변환 프로세스를 시도하였다</a:t>
            </a:r>
            <a:r>
              <a:rPr lang="en-US" altLang="ko-KR" sz="3200" dirty="0"/>
              <a:t>. </a:t>
            </a:r>
          </a:p>
          <a:p>
            <a:endParaRPr lang="en-US" altLang="ko-KR" sz="3200" b="1" dirty="0"/>
          </a:p>
          <a:p>
            <a:r>
              <a:rPr lang="ko-KR" altLang="en-US" sz="3600" b="1" dirty="0"/>
              <a:t>시각적 노드 그래프의 논리적 인식 및 구조화</a:t>
            </a:r>
            <a:endParaRPr lang="ko-KR" altLang="en-US" sz="3600" dirty="0"/>
          </a:p>
          <a:p>
            <a:r>
              <a:rPr lang="ko-KR" altLang="en-US" sz="3200" dirty="0"/>
              <a:t>전통적인 방식에서 </a:t>
            </a:r>
            <a:r>
              <a:rPr lang="ko-KR" altLang="en-US" sz="3200" dirty="0" err="1"/>
              <a:t>블루프린트</a:t>
            </a:r>
            <a:r>
              <a:rPr lang="ko-KR" altLang="en-US" sz="3200" dirty="0"/>
              <a:t> 로직을 </a:t>
            </a:r>
            <a:r>
              <a:rPr lang="en-US" altLang="ko-KR" sz="3200" dirty="0"/>
              <a:t>C++</a:t>
            </a:r>
            <a:r>
              <a:rPr lang="ko-KR" altLang="en-US" sz="3200" dirty="0"/>
              <a:t>로 이식하기 위해서는 개발자가 직접 노드의 실행 흐름과 데이터 핀의 연결 관계를 역설계해야 했다</a:t>
            </a:r>
            <a:r>
              <a:rPr lang="en-US" altLang="ko-KR" sz="3200" dirty="0"/>
              <a:t>. </a:t>
            </a:r>
            <a:r>
              <a:rPr lang="ko-KR" altLang="en-US" sz="3200" dirty="0"/>
              <a:t>본 연구에서는 </a:t>
            </a:r>
            <a:r>
              <a:rPr lang="ko-KR" altLang="en-US" sz="3200" dirty="0" err="1"/>
              <a:t>멀티모달</a:t>
            </a:r>
            <a:r>
              <a:rPr lang="ko-KR" altLang="en-US" sz="3200" dirty="0"/>
              <a:t> </a:t>
            </a:r>
            <a:r>
              <a:rPr lang="en-US" altLang="ko-KR" sz="3200" dirty="0"/>
              <a:t>LLM</a:t>
            </a:r>
            <a:r>
              <a:rPr lang="ko-KR" altLang="en-US" sz="3200" dirty="0"/>
              <a:t>에 </a:t>
            </a:r>
            <a:r>
              <a:rPr lang="ko-KR" altLang="en-US" sz="3200" dirty="0" err="1"/>
              <a:t>블루프린트</a:t>
            </a:r>
            <a:r>
              <a:rPr lang="ko-KR" altLang="en-US" sz="3200" dirty="0"/>
              <a:t> 에디터의 스크린샷을 </a:t>
            </a:r>
            <a:r>
              <a:rPr lang="ko-KR" altLang="en-US" sz="3200" dirty="0" err="1"/>
              <a:t>입력값으로</a:t>
            </a:r>
            <a:r>
              <a:rPr lang="ko-KR" altLang="en-US" sz="3200" dirty="0"/>
              <a:t> 제공하였다</a:t>
            </a:r>
            <a:r>
              <a:rPr lang="en-US" altLang="ko-KR" sz="3200" dirty="0"/>
              <a:t>.</a:t>
            </a:r>
            <a:r>
              <a:rPr lang="ko-KR" altLang="en-US" sz="3200" dirty="0"/>
              <a:t>  </a:t>
            </a:r>
          </a:p>
          <a:p>
            <a:endParaRPr lang="en-US" altLang="ko-KR" sz="3600" b="1" dirty="0"/>
          </a:p>
          <a:p>
            <a:r>
              <a:rPr lang="en-US" altLang="ko-KR" sz="3600" b="1" dirty="0"/>
              <a:t>C++ </a:t>
            </a:r>
            <a:r>
              <a:rPr lang="ko-KR" altLang="en-US" sz="3600" b="1" dirty="0"/>
              <a:t>클래스 변환</a:t>
            </a:r>
            <a:endParaRPr lang="ko-KR" altLang="en-US" sz="3600" dirty="0"/>
          </a:p>
          <a:p>
            <a:r>
              <a:rPr lang="ko-KR" altLang="en-US" sz="3200" dirty="0"/>
              <a:t>인식된 시각적 논리를 바탕으로</a:t>
            </a:r>
            <a:r>
              <a:rPr lang="en-US" altLang="ko-KR" sz="3200" dirty="0"/>
              <a:t>, LLM</a:t>
            </a:r>
            <a:r>
              <a:rPr lang="ko-KR" altLang="en-US" sz="3200" dirty="0"/>
              <a:t>은 </a:t>
            </a:r>
            <a:r>
              <a:rPr lang="ko-KR" altLang="en-US" sz="3200" dirty="0" err="1"/>
              <a:t>언리얼</a:t>
            </a:r>
            <a:r>
              <a:rPr lang="ko-KR" altLang="en-US" sz="3200" dirty="0"/>
              <a:t> 엔진의 코딩 표준을 준수하는 </a:t>
            </a:r>
            <a:r>
              <a:rPr lang="en-US" altLang="ko-KR" sz="3200" dirty="0"/>
              <a:t>C++ </a:t>
            </a:r>
            <a:r>
              <a:rPr lang="ko-KR" altLang="en-US" sz="3200" dirty="0"/>
              <a:t>코드를 생성하는데 성공하였다</a:t>
            </a:r>
            <a:r>
              <a:rPr lang="en-US" altLang="ko-KR" sz="3200" dirty="0"/>
              <a:t>.</a:t>
            </a:r>
            <a:endParaRPr lang="ko-KR" altLang="en-US" sz="3200" dirty="0"/>
          </a:p>
          <a:p>
            <a:r>
              <a:rPr lang="en-US" altLang="ko-KR" sz="3200" dirty="0"/>
              <a:t>LLM</a:t>
            </a:r>
            <a:r>
              <a:rPr lang="ko-KR" altLang="en-US" sz="3200" dirty="0"/>
              <a:t>은 </a:t>
            </a:r>
            <a:r>
              <a:rPr lang="ko-KR" altLang="en-US" sz="3200" dirty="0" err="1"/>
              <a:t>블루프린트의</a:t>
            </a:r>
            <a:r>
              <a:rPr lang="ko-KR" altLang="en-US" sz="3200" dirty="0"/>
              <a:t> 각 노드에 대응하는 </a:t>
            </a:r>
            <a:r>
              <a:rPr lang="en-US" altLang="ko-KR" sz="3200" dirty="0"/>
              <a:t>UFUNCTION </a:t>
            </a:r>
            <a:r>
              <a:rPr lang="ko-KR" altLang="en-US" sz="3200" dirty="0"/>
              <a:t>및 </a:t>
            </a:r>
            <a:r>
              <a:rPr lang="en-US" altLang="ko-KR" sz="3200" dirty="0"/>
              <a:t>UPROPERTY </a:t>
            </a:r>
            <a:r>
              <a:rPr lang="ko-KR" altLang="en-US" sz="3200" dirty="0"/>
              <a:t>매크로를 포함한 헤더</a:t>
            </a:r>
            <a:r>
              <a:rPr lang="en-US" altLang="ko-KR" sz="3200" dirty="0"/>
              <a:t>(.h)</a:t>
            </a:r>
            <a:r>
              <a:rPr lang="ko-KR" altLang="en-US" sz="3200" dirty="0"/>
              <a:t>와 소스</a:t>
            </a:r>
            <a:r>
              <a:rPr lang="en-US" altLang="ko-KR" sz="3200" dirty="0"/>
              <a:t>(.</a:t>
            </a:r>
            <a:r>
              <a:rPr lang="en-US" altLang="ko-KR" sz="3200" dirty="0" err="1"/>
              <a:t>cpp</a:t>
            </a:r>
            <a:r>
              <a:rPr lang="en-US" altLang="ko-KR" sz="3200" dirty="0"/>
              <a:t>) </a:t>
            </a:r>
            <a:r>
              <a:rPr lang="ko-KR" altLang="en-US" sz="3200" dirty="0"/>
              <a:t>파일을 구성하였다</a:t>
            </a:r>
            <a:r>
              <a:rPr lang="en-US" altLang="ko-KR" sz="3200" dirty="0"/>
              <a:t>. </a:t>
            </a:r>
            <a:r>
              <a:rPr lang="ko-KR" altLang="en-US" sz="3200" dirty="0"/>
              <a:t>특히 가상 머신 오버헤드가 발생하는 </a:t>
            </a:r>
            <a:r>
              <a:rPr lang="ko-KR" altLang="en-US" sz="3200" dirty="0" err="1"/>
              <a:t>블루프린트</a:t>
            </a:r>
            <a:r>
              <a:rPr lang="ko-KR" altLang="en-US" sz="3200" dirty="0"/>
              <a:t> 로직을 네이티브 </a:t>
            </a:r>
            <a:r>
              <a:rPr lang="en-US" altLang="ko-KR" sz="3200" dirty="0"/>
              <a:t>C++ </a:t>
            </a:r>
            <a:r>
              <a:rPr lang="ko-KR" altLang="en-US" sz="3200" dirty="0"/>
              <a:t>코드로 치환함으로써 실행 성능을 극대화하였다</a:t>
            </a:r>
            <a:r>
              <a:rPr lang="en-US" altLang="ko-KR" sz="3200" dirty="0"/>
              <a:t>.</a:t>
            </a:r>
          </a:p>
          <a:p>
            <a:r>
              <a:rPr lang="ko-KR" altLang="en-US" sz="3200" dirty="0"/>
              <a:t>또한</a:t>
            </a:r>
            <a:r>
              <a:rPr lang="en-US" altLang="ko-KR" sz="3200" dirty="0"/>
              <a:t> </a:t>
            </a:r>
            <a:r>
              <a:rPr lang="ko-KR" altLang="en-US" sz="3200" dirty="0"/>
              <a:t>생성된 코드에서 발생할 수 있는 잠재적인 널 포인터 참조나 타입 불일치를 사전에 식별하고 보정하는 검수 과정을 수행하였다</a:t>
            </a:r>
            <a:r>
              <a:rPr lang="en-US" altLang="ko-KR" sz="3200" dirty="0"/>
              <a:t>.</a:t>
            </a:r>
            <a:endParaRPr lang="ko-KR" altLang="en-US" sz="3200" dirty="0"/>
          </a:p>
          <a:p>
            <a:endParaRPr lang="en-US" altLang="ko-KR" sz="3200" dirty="0">
              <a:effectLst/>
            </a:endParaRPr>
          </a:p>
          <a:p>
            <a:r>
              <a:rPr lang="en-US" altLang="ko-KR" sz="3600" b="1" dirty="0"/>
              <a:t>'</a:t>
            </a:r>
            <a:r>
              <a:rPr lang="ko-KR" altLang="en-US" sz="3600" b="1" dirty="0"/>
              <a:t>프로토타이핑</a:t>
            </a:r>
            <a:r>
              <a:rPr lang="en-US" altLang="ko-KR" sz="3600" b="1" dirty="0"/>
              <a:t>-</a:t>
            </a:r>
            <a:r>
              <a:rPr lang="ko-KR" altLang="en-US" sz="3600" b="1" dirty="0"/>
              <a:t>최적화</a:t>
            </a:r>
            <a:r>
              <a:rPr lang="en-US" altLang="ko-KR" sz="3600" b="1" dirty="0"/>
              <a:t>' </a:t>
            </a:r>
            <a:r>
              <a:rPr lang="ko-KR" altLang="en-US" sz="3600" b="1" dirty="0"/>
              <a:t>워크플로우의 선순환</a:t>
            </a:r>
            <a:endParaRPr lang="ko-KR" altLang="en-US" sz="3600" dirty="0"/>
          </a:p>
          <a:p>
            <a:r>
              <a:rPr lang="ko-KR" altLang="en-US" sz="3200" dirty="0" err="1"/>
              <a:t>멀티모달</a:t>
            </a:r>
            <a:r>
              <a:rPr lang="ko-KR" altLang="en-US" sz="3200" dirty="0"/>
              <a:t> 기능을 활용한 변환 프로세스는 단순한 도구의 활용을 넘어</a:t>
            </a:r>
            <a:r>
              <a:rPr lang="en-US" altLang="ko-KR" sz="3200" dirty="0"/>
              <a:t>, </a:t>
            </a:r>
            <a:r>
              <a:rPr lang="ko-KR" altLang="en-US" sz="3200" dirty="0"/>
              <a:t>개발 주기 전체의 효율성을 개선하였다</a:t>
            </a:r>
            <a:r>
              <a:rPr lang="en-US" altLang="ko-KR" sz="3200" dirty="0"/>
              <a:t>.</a:t>
            </a:r>
            <a:endParaRPr lang="ko-KR" altLang="en-US" sz="3200" dirty="0"/>
          </a:p>
          <a:p>
            <a:r>
              <a:rPr lang="ko-KR" altLang="en-US" sz="3200" dirty="0"/>
              <a:t>시각적 직관성이 높은 </a:t>
            </a:r>
            <a:r>
              <a:rPr lang="ko-KR" altLang="en-US" sz="3200" dirty="0" err="1"/>
              <a:t>블루프린트로</a:t>
            </a:r>
            <a:r>
              <a:rPr lang="ko-KR" altLang="en-US" sz="3200" dirty="0"/>
              <a:t> 기능을 빠르게 구현</a:t>
            </a:r>
            <a:r>
              <a:rPr lang="en-US" altLang="ko-KR" sz="3200" dirty="0"/>
              <a:t>(Prototyping)</a:t>
            </a:r>
            <a:r>
              <a:rPr lang="ko-KR" altLang="en-US" sz="3200" dirty="0"/>
              <a:t>한 후</a:t>
            </a:r>
            <a:r>
              <a:rPr lang="en-US" altLang="ko-KR" sz="3200" dirty="0"/>
              <a:t>, LLM</a:t>
            </a:r>
            <a:r>
              <a:rPr lang="ko-KR" altLang="en-US" sz="3200" dirty="0"/>
              <a:t>을 통해 즉시 </a:t>
            </a:r>
            <a:r>
              <a:rPr lang="en-US" altLang="ko-KR" sz="3200" dirty="0"/>
              <a:t>C++</a:t>
            </a:r>
            <a:r>
              <a:rPr lang="ko-KR" altLang="en-US" sz="3200" dirty="0"/>
              <a:t>로 안정화</a:t>
            </a:r>
            <a:r>
              <a:rPr lang="en-US" altLang="ko-KR" sz="3200" dirty="0"/>
              <a:t>(Stabilization)</a:t>
            </a:r>
            <a:r>
              <a:rPr lang="ko-KR" altLang="en-US" sz="3200" dirty="0"/>
              <a:t>하는 이분법적 접근이 </a:t>
            </a:r>
            <a:r>
              <a:rPr lang="ko-KR" altLang="en-US" sz="3200" dirty="0" err="1"/>
              <a:t>가능해졌으며</a:t>
            </a:r>
            <a:r>
              <a:rPr lang="en-US" altLang="ko-KR" sz="3200" dirty="0"/>
              <a:t>, </a:t>
            </a:r>
          </a:p>
          <a:p>
            <a:r>
              <a:rPr lang="ko-KR" altLang="en-US" sz="3200" dirty="0"/>
              <a:t>복잡한 로직을 텍스트로 설명하거나 문서화할 필요 없이 스크린샷 한 장으로 의도를 전달함으로써</a:t>
            </a:r>
            <a:r>
              <a:rPr lang="en-US" altLang="ko-KR" sz="3200" dirty="0"/>
              <a:t>, </a:t>
            </a:r>
            <a:r>
              <a:rPr lang="ko-KR" altLang="en-US" sz="3200" dirty="0"/>
              <a:t>개발자와 </a:t>
            </a:r>
            <a:r>
              <a:rPr lang="en-US" altLang="ko-KR" sz="3200" dirty="0"/>
              <a:t>AI </a:t>
            </a:r>
            <a:r>
              <a:rPr lang="ko-KR" altLang="en-US" sz="3200" dirty="0"/>
              <a:t>간의 정보 전달 효율을 극대화하고 개발 흐름이 끊기는 </a:t>
            </a:r>
            <a:endParaRPr lang="en-US" altLang="ko-KR" sz="3200" dirty="0"/>
          </a:p>
          <a:p>
            <a:r>
              <a:rPr lang="ko-KR" altLang="en-US" sz="3200" dirty="0"/>
              <a:t>맥락 전환 비용을 최소화할 수 있었다</a:t>
            </a:r>
            <a:r>
              <a:rPr lang="en-US" altLang="ko-KR" sz="3200" dirty="0"/>
              <a:t>.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247808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152</TotalTime>
  <Words>1058</Words>
  <Application>Microsoft Office PowerPoint</Application>
  <PresentationFormat>사용자 지정</PresentationFormat>
  <Paragraphs>66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 kevin</dc:creator>
  <cp:lastModifiedBy>cho kevin</cp:lastModifiedBy>
  <cp:revision>84</cp:revision>
  <dcterms:created xsi:type="dcterms:W3CDTF">2026-05-27T06:41:54Z</dcterms:created>
  <dcterms:modified xsi:type="dcterms:W3CDTF">2026-05-27T12:13:23Z</dcterms:modified>
</cp:coreProperties>
</file>