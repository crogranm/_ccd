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7" r:id="rId2"/>
  </p:sldIdLst>
  <p:sldSz cx="32399288" cy="43200638"/>
  <p:notesSz cx="32554863" cy="462343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1" autoAdjust="0"/>
    <p:restoredTop sz="94660"/>
  </p:normalViewPr>
  <p:slideViewPr>
    <p:cSldViewPr snapToGrid="0">
      <p:cViewPr varScale="1">
        <p:scale>
          <a:sx n="17" d="100"/>
          <a:sy n="17" d="100"/>
        </p:scale>
        <p:origin x="29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1" i="0" u="none" strike="noStrike" kern="1200" cap="all" spc="15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sz="2400" dirty="0"/>
              <a:t>구현 시간 비교</a:t>
            </a:r>
            <a:r>
              <a:rPr lang="en-US" altLang="ko-KR" sz="2400" dirty="0"/>
              <a:t> (Day)</a:t>
            </a:r>
            <a:endParaRPr lang="en-US" sz="24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0" u="none" strike="noStrike" kern="1200" cap="all" spc="15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>
              <a:innerShdw blurRad="114300">
                <a:schemeClr val="accent1"/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>
                <a:innerShdw blurRad="114300">
                  <a:schemeClr val="accent1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4-1D97-460B-A0E3-E340AF71FC52}"/>
              </c:ext>
            </c:extLst>
          </c:dPt>
          <c:cat>
            <c:strRef>
              <c:f>Sheet1!$A$2:$A$3</c:f>
              <c:strCache>
                <c:ptCount val="2"/>
                <c:pt idx="0">
                  <c:v>기존</c:v>
                </c:pt>
                <c:pt idx="1">
                  <c:v>LLM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97-460B-A0E3-E340AF71FC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27"/>
        <c:overlap val="-48"/>
        <c:axId val="317151440"/>
        <c:axId val="317149520"/>
      </c:barChart>
      <c:catAx>
        <c:axId val="3171514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17149520"/>
        <c:crosses val="autoZero"/>
        <c:auto val="1"/>
        <c:lblAlgn val="ctr"/>
        <c:lblOffset val="100"/>
        <c:noMultiLvlLbl val="0"/>
      </c:catAx>
      <c:valAx>
        <c:axId val="317149520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1715144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narVert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narVert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22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14107106" cy="2319747"/>
          </a:xfrm>
          <a:prstGeom prst="rect">
            <a:avLst/>
          </a:prstGeom>
        </p:spPr>
        <p:txBody>
          <a:bodyPr vert="horz" lIns="450207" tIns="225106" rIns="450207" bIns="225106" rtlCol="0"/>
          <a:lstStyle>
            <a:lvl1pPr algn="l">
              <a:defRPr sz="59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18440226" y="0"/>
            <a:ext cx="14107106" cy="2319747"/>
          </a:xfrm>
          <a:prstGeom prst="rect">
            <a:avLst/>
          </a:prstGeom>
        </p:spPr>
        <p:txBody>
          <a:bodyPr vert="horz" lIns="450207" tIns="225106" rIns="450207" bIns="225106" rtlCol="0"/>
          <a:lstStyle>
            <a:lvl1pPr algn="r">
              <a:defRPr sz="5900"/>
            </a:lvl1pPr>
          </a:lstStyle>
          <a:p>
            <a:fld id="{894CFD26-807D-482F-9269-487A733D5587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425113" y="5780088"/>
            <a:ext cx="11704637" cy="15605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450207" tIns="225106" rIns="450207" bIns="225106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3255489" y="22250281"/>
            <a:ext cx="26043889" cy="18204776"/>
          </a:xfrm>
          <a:prstGeom prst="rect">
            <a:avLst/>
          </a:prstGeom>
        </p:spPr>
        <p:txBody>
          <a:bodyPr vert="horz" lIns="450207" tIns="225106" rIns="450207" bIns="225106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43914615"/>
            <a:ext cx="14107106" cy="2319742"/>
          </a:xfrm>
          <a:prstGeom prst="rect">
            <a:avLst/>
          </a:prstGeom>
        </p:spPr>
        <p:txBody>
          <a:bodyPr vert="horz" lIns="450207" tIns="225106" rIns="450207" bIns="225106" rtlCol="0" anchor="b"/>
          <a:lstStyle>
            <a:lvl1pPr algn="l">
              <a:defRPr sz="59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18440226" y="43914615"/>
            <a:ext cx="14107106" cy="2319742"/>
          </a:xfrm>
          <a:prstGeom prst="rect">
            <a:avLst/>
          </a:prstGeom>
        </p:spPr>
        <p:txBody>
          <a:bodyPr vert="horz" lIns="450207" tIns="225106" rIns="450207" bIns="225106" rtlCol="0" anchor="b"/>
          <a:lstStyle>
            <a:lvl1pPr algn="r">
              <a:defRPr sz="5900"/>
            </a:lvl1pPr>
          </a:lstStyle>
          <a:p>
            <a:fld id="{996AB749-0598-49AA-8249-049EB7E95B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194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6AB749-0598-49AA-8249-049EB7E95B7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575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24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667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0733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465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8961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347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627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759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9604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816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325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39CF-70CD-434E-85D7-81BFBF5DAE06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26966B-5901-43D6-95AC-0E76889A575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8662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1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1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1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1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685CAC4-B077-5042-F3A0-B4DF855FEF28}"/>
              </a:ext>
            </a:extLst>
          </p:cNvPr>
          <p:cNvSpPr/>
          <p:nvPr/>
        </p:nvSpPr>
        <p:spPr>
          <a:xfrm>
            <a:off x="0" y="2"/>
            <a:ext cx="32399288" cy="662787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34C8758-FAFC-F37E-7CFC-B5765217A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9522" y="0"/>
            <a:ext cx="6669766" cy="66278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39DB8D-6DAC-8893-4F17-A435296A90A1}"/>
              </a:ext>
            </a:extLst>
          </p:cNvPr>
          <p:cNvSpPr txBox="1"/>
          <p:nvPr/>
        </p:nvSpPr>
        <p:spPr>
          <a:xfrm>
            <a:off x="850044" y="1091128"/>
            <a:ext cx="3010716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언리얼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엔진 </a:t>
            </a:r>
            <a:r>
              <a:rPr lang="en-US" altLang="ko-KR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C++ 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환경에서 </a:t>
            </a:r>
            <a:r>
              <a:rPr lang="en-US" altLang="ko-KR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LLM</a:t>
            </a:r>
            <a:r>
              <a:rPr lang="ko-KR" altLang="en-US" sz="7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을 활용한 소규모 게임 개발 효율성 연구</a:t>
            </a:r>
            <a:endParaRPr lang="en-US" altLang="ko-KR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endParaRPr lang="en-US" altLang="ko-KR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r>
              <a:rPr lang="ko-KR" altLang="en-US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졸업작품 개발 사례를 중심으로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9E03B-4607-406A-6E2A-5B51E943D17C}"/>
              </a:ext>
            </a:extLst>
          </p:cNvPr>
          <p:cNvSpPr txBox="1"/>
          <p:nvPr/>
        </p:nvSpPr>
        <p:spPr>
          <a:xfrm>
            <a:off x="747851" y="4259434"/>
            <a:ext cx="248915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Sung-Wook Cho</a:t>
            </a:r>
            <a:r>
              <a:rPr lang="ko-KR" altLang="en-US" sz="4800" b="1" baseline="30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○</a:t>
            </a:r>
            <a:r>
              <a:rPr lang="ko-KR" altLang="en-US" sz="5400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Min-Woo Ji, Daniel Kim, Dae-Hyun Lee </a:t>
            </a:r>
          </a:p>
          <a:p>
            <a:r>
              <a:rPr lang="en-US" altLang="ko-KR" sz="5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Tech University of Korea Dept. of Game &amp; Multimedia Engineering </a:t>
            </a:r>
            <a:endParaRPr lang="ko-KR" altLang="en-US" sz="5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D21401-06AB-A3A4-7FE8-5C6C0A7FEF1A}"/>
              </a:ext>
            </a:extLst>
          </p:cNvPr>
          <p:cNvSpPr/>
          <p:nvPr/>
        </p:nvSpPr>
        <p:spPr>
          <a:xfrm>
            <a:off x="400048" y="7216821"/>
            <a:ext cx="15380726" cy="135383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C90D7C-38E1-8D00-3C91-0325FB92D1C2}"/>
              </a:ext>
            </a:extLst>
          </p:cNvPr>
          <p:cNvSpPr txBox="1"/>
          <p:nvPr/>
        </p:nvSpPr>
        <p:spPr>
          <a:xfrm>
            <a:off x="747851" y="7474774"/>
            <a:ext cx="4296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연구 배경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B3F0E1-F99C-F429-46C9-E398A6DEEA6C}"/>
              </a:ext>
            </a:extLst>
          </p:cNvPr>
          <p:cNvSpPr txBox="1"/>
          <p:nvPr/>
        </p:nvSpPr>
        <p:spPr>
          <a:xfrm>
            <a:off x="400049" y="8893630"/>
            <a:ext cx="15380724" cy="5471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최근 전 세계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IT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업계는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 채용 감소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'AI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인재 수요 급증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이라는 구조적 전환기를 맞이하고 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2021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 이후 개발자 수요는 둔화되었으며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2022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년부터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2024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 사이 전 세 계적으로 약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56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만 명 이상의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IT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인력이 감축되었다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이러한 흐름은 게임 업계에도 직결되어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신입 개발자의 진입 장벽은 높아지는 반면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도구로 활용해 고도의 설계를 수행할 수 있는 능력은 소규모 개발 환경에서 생존을 위한 필수 역량이 되고 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2020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GPT-3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등장을 기점으로 시작된 코딩 보조 능력은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2026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 현재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Claude Opus 4.5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및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GPT-5.4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 같은 모델들이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SWE- bench Verified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80%, </a:t>
            </a:r>
            <a:r>
              <a:rPr lang="en-US" altLang="ko-KR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HumanEval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95%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이상의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정답률을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기록하며 포화 상태에 이르렀다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단순한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코드 자동 완성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넘어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개발자의 자연어 의도를 이해하고 복잡한 아키텍처를 설계하는 이른바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바이브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코딩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’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패러다임을 형성하고 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10A15FF-F727-D119-EAC2-7329FEF0AEEF}"/>
              </a:ext>
            </a:extLst>
          </p:cNvPr>
          <p:cNvSpPr/>
          <p:nvPr/>
        </p:nvSpPr>
        <p:spPr>
          <a:xfrm>
            <a:off x="400049" y="14939838"/>
            <a:ext cx="15380724" cy="135383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FCAD09-2321-B5A1-7842-97150CAE5487}"/>
              </a:ext>
            </a:extLst>
          </p:cNvPr>
          <p:cNvSpPr txBox="1"/>
          <p:nvPr/>
        </p:nvSpPr>
        <p:spPr>
          <a:xfrm>
            <a:off x="747851" y="15201256"/>
            <a:ext cx="4296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연구 목적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C33C4B-A0F5-AFDE-7007-236ACF2CF260}"/>
              </a:ext>
            </a:extLst>
          </p:cNvPr>
          <p:cNvSpPr txBox="1"/>
          <p:nvPr/>
        </p:nvSpPr>
        <p:spPr>
          <a:xfrm>
            <a:off x="400046" y="16616647"/>
            <a:ext cx="15380723" cy="1679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연구의 목적은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언리얼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엔진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라는 높은 기술적 진입 장벽을 가진 환경에서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LLM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기반의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바이브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코딩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소규모 게임 프로젝트의 생산 한계선을 어떻게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확장시키는지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규명하는 데 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9EB9591-1F82-1AB2-ED2C-F799CCB3C2CD}"/>
              </a:ext>
            </a:extLst>
          </p:cNvPr>
          <p:cNvSpPr/>
          <p:nvPr/>
        </p:nvSpPr>
        <p:spPr>
          <a:xfrm>
            <a:off x="400047" y="18723315"/>
            <a:ext cx="15380724" cy="135383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A4148B-DE8F-4D42-946F-D59DC80CCE20}"/>
              </a:ext>
            </a:extLst>
          </p:cNvPr>
          <p:cNvSpPr txBox="1"/>
          <p:nvPr/>
        </p:nvSpPr>
        <p:spPr>
          <a:xfrm>
            <a:off x="747851" y="18990383"/>
            <a:ext cx="4296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연구 방법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2513C-9812-2017-89B7-8B41FDD40FA8}"/>
              </a:ext>
            </a:extLst>
          </p:cNvPr>
          <p:cNvSpPr txBox="1"/>
          <p:nvPr/>
        </p:nvSpPr>
        <p:spPr>
          <a:xfrm>
            <a:off x="400046" y="20400124"/>
            <a:ext cx="15380723" cy="4946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기초 공수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(Baseline)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대비 분석</a:t>
            </a:r>
            <a:endParaRPr lang="en-US" altLang="ko-KR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lvl="1">
              <a:lnSpc>
                <a:spcPct val="110000"/>
              </a:lnSpc>
            </a:pP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보조 없이 진행되었을 때의 예상 소요 시간과 실제 구현 시간을 비교한다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 </a:t>
            </a:r>
            <a:endParaRPr lang="en-US" altLang="ko-KR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endParaRPr lang="en-US" altLang="ko-KR" sz="1050" b="1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 marL="914400" lvl="1" indent="-457200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기술 장벽 극복 사례 연구</a:t>
            </a:r>
            <a:endParaRPr lang="en-US" altLang="ko-KR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lvl="1"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개발자의 기존 숙련도만으로는 장시간이 소요되었을 작업을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아키텍처 가이드를 통해 해결한 사례를 분석한다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 marL="1485900" lvl="2" indent="-571500">
              <a:lnSpc>
                <a:spcPct val="110000"/>
              </a:lnSpc>
              <a:buFontTx/>
              <a:buChar char="-"/>
            </a:pPr>
            <a:endParaRPr lang="ko-KR" altLang="en-US" sz="105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 marL="914400" lvl="1" indent="-457200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실제 사례 기반 분석</a:t>
            </a:r>
            <a:endParaRPr lang="en-US" altLang="ko-KR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lvl="1"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연구팀의 졸업작품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'Containment Cleanup Detail'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 과정 중 발생한 구체적인 에피소드 사례를 들어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미친 영향을 서술한다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EDCD8-F3DB-D4A3-62F3-858D3745E5A3}"/>
              </a:ext>
            </a:extLst>
          </p:cNvPr>
          <p:cNvSpPr/>
          <p:nvPr/>
        </p:nvSpPr>
        <p:spPr>
          <a:xfrm>
            <a:off x="400045" y="25878266"/>
            <a:ext cx="15380724" cy="135383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075576-21D5-05E7-4A68-233FAA7DE201}"/>
              </a:ext>
            </a:extLst>
          </p:cNvPr>
          <p:cNvSpPr txBox="1"/>
          <p:nvPr/>
        </p:nvSpPr>
        <p:spPr>
          <a:xfrm>
            <a:off x="747851" y="26139684"/>
            <a:ext cx="55958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연구 내용 및 사례</a:t>
            </a: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448A64C3-694A-7240-273F-1848AB41F054}"/>
              </a:ext>
            </a:extLst>
          </p:cNvPr>
          <p:cNvSpPr/>
          <p:nvPr/>
        </p:nvSpPr>
        <p:spPr>
          <a:xfrm>
            <a:off x="400045" y="27558593"/>
            <a:ext cx="900000" cy="90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96CD93-21FD-5108-0375-4A9A6E0CFBC4}"/>
              </a:ext>
            </a:extLst>
          </p:cNvPr>
          <p:cNvSpPr txBox="1"/>
          <p:nvPr/>
        </p:nvSpPr>
        <p:spPr>
          <a:xfrm>
            <a:off x="449082" y="27654650"/>
            <a:ext cx="8019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ko-KR" altLang="en-US" sz="4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72EDA1-7417-29AD-648C-C5DD6167E1AF}"/>
              </a:ext>
            </a:extLst>
          </p:cNvPr>
          <p:cNvSpPr txBox="1"/>
          <p:nvPr/>
        </p:nvSpPr>
        <p:spPr>
          <a:xfrm>
            <a:off x="1542882" y="27654650"/>
            <a:ext cx="130494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Chaos Destruction </a:t>
            </a:r>
            <a:r>
              <a:rPr lang="ko-KR" altLang="en-US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기반 캐릭터 파편화</a:t>
            </a:r>
            <a:r>
              <a:rPr lang="en-US" altLang="ko-KR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및 </a:t>
            </a:r>
            <a:r>
              <a:rPr lang="ko-KR" altLang="en-US" sz="4000" b="1" dirty="0" err="1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액터화</a:t>
            </a:r>
            <a:r>
              <a:rPr lang="ko-KR" altLang="en-US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시스템</a:t>
            </a:r>
            <a:endParaRPr lang="ko-KR" altLang="en-US" sz="4000" dirty="0">
              <a:solidFill>
                <a:schemeClr val="accent1">
                  <a:lumMod val="50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B77B5E-A771-BDD9-D14B-E0204474C91F}"/>
              </a:ext>
            </a:extLst>
          </p:cNvPr>
          <p:cNvSpPr txBox="1"/>
          <p:nvPr/>
        </p:nvSpPr>
        <p:spPr>
          <a:xfrm>
            <a:off x="400046" y="28707257"/>
            <a:ext cx="15380722" cy="14003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프로젝트는 청소 및 수거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그리고 이를 방해하는 적대적 개체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(SCP)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와의 상호작용이 핵심 게임성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(Gameplay)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구성하기에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언리얼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엔진의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Chaos Destruction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시스템을 활용하여 캐릭터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메쉬를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파편화하고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생성된 각 파편에 개별적인 물리 속성을 부여하여 상호작용 가능한 독립적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액터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(Actor)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로 변환하는 것을 목표로 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	</a:t>
            </a:r>
          </a:p>
          <a:p>
            <a:pPr>
              <a:lnSpc>
                <a:spcPct val="110000"/>
              </a:lnSpc>
            </a:pP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단계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Chaos Geometry Collection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생성</a:t>
            </a:r>
            <a:endParaRPr lang="ko-KR" altLang="en-US" sz="32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해당 단계에서는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직접적인 활용보다는 개발자의 수동 작업 비중이 높았다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언리얼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엔진의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Fracture Mode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를 통해 캐릭터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메쉬의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파편화 지점을 지정하고 하위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메쉬를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생성하는 과정은 시각적 판단이 수반되는 작업이기 때문이다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공정을 통해 물리 기반 파편으로 치환될 기초 데이터를 확보하였다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 </a:t>
            </a:r>
          </a:p>
          <a:p>
            <a:pPr>
              <a:lnSpc>
                <a:spcPct val="110000"/>
              </a:lnSpc>
            </a:pP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단계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파편의 </a:t>
            </a:r>
            <a:r>
              <a:rPr lang="ko-KR" altLang="en-US" sz="3600" b="1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액터화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및 물리 속성 부여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파편화된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Geometry Collection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데이터 자체만으로는 독립적인 상호작용 및 세부 물리 효과 적용에 한계가 존재한다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따라서 상기 단계에서 생성된 파편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메쉬를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독립적인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액터로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전환하는 공정을 수행하였다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과정에서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스폰할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파편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메쉬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리스트의 동적 생성 로직과 </a:t>
            </a:r>
            <a:r>
              <a:rPr lang="en-US" altLang="ko-KR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SkeletalMeshComponent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기반의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액터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클래스 구조 설계에 활용되었다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특히 시체 파편에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Ragdoll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효과를 부여하기 위한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기술적 제언은 실증적으로 유효함을 확인하였다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물리 효과의 정밀도를 높이기 위한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Physics Asset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생성 및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Skin Weight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조정은 개발자가 직접 수행하였으나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이를 제어하는 시스템 코드 작성 영역에서는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결정적인 기여를 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</a:pP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 시간 단축 및 학습 비용 절감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숙련되지 않은 개발자가 초기 아키텍처를 설계하는 기존 방식 대비 약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70%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이상의 시간 효율을 달성하였으며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이는 검색 및 시행착오에 소요되는 시간을 실제 구현 시간으로 전환했음을 의미한다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1050" b="1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DE5D971-E8B0-23CF-5EAD-8352E9CA4EDB}"/>
              </a:ext>
            </a:extLst>
          </p:cNvPr>
          <p:cNvSpPr/>
          <p:nvPr/>
        </p:nvSpPr>
        <p:spPr>
          <a:xfrm>
            <a:off x="16618517" y="26490993"/>
            <a:ext cx="15380724" cy="135383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9C3437-9C9E-61C1-908C-729ECCA68E8C}"/>
              </a:ext>
            </a:extLst>
          </p:cNvPr>
          <p:cNvSpPr txBox="1"/>
          <p:nvPr/>
        </p:nvSpPr>
        <p:spPr>
          <a:xfrm>
            <a:off x="16995863" y="26752411"/>
            <a:ext cx="4296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한계점 및 결론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9F5761-F99F-35D4-6286-D5B2FE70B4A1}"/>
              </a:ext>
            </a:extLst>
          </p:cNvPr>
          <p:cNvSpPr txBox="1"/>
          <p:nvPr/>
        </p:nvSpPr>
        <p:spPr>
          <a:xfrm>
            <a:off x="16618515" y="28136719"/>
            <a:ext cx="15380722" cy="14409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외부 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SDK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및 복합 네트워크 환경의 디버깅 한계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프로젝트에서 도입한 스팀 온라인 세션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(Steam Online Session)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구현 과정에서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명확한 해결책을 제시하는 데 한계를 보였다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endParaRPr lang="en-US" altLang="ko-KR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 </a:t>
            </a:r>
          </a:p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기술적 </a:t>
            </a:r>
            <a:r>
              <a:rPr lang="ko-KR" altLang="en-US" sz="3600" b="1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할루시네이션과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버전 파편화 문제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 과정에서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명시적인 버전 지정에도 불구하고 잘못된 정보를 제공하는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할루시네이션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현상을 보였다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프롬프트에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'Unreal Engine 5.7'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를 명시하였음에도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최신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API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와의 호환성이 결여된 구 버전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(UE4)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함수를 제안하는 등의 사례가 빈번히 발생하였다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이에 개발자가 컴파일 에러를 직접 수정하기 위해 다시 공식 문서를 교차 검증해야 하는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역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逆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)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효율성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발생하였다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 </a:t>
            </a:r>
            <a:endParaRPr lang="en-US" altLang="ko-KR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대화의 관성과 문맥 오염 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(Context Contamination)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과의 장기적인 협업 과정에서 발생하는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정보 고착화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현상은 개발의 유연성을 떨어뜨리는 또 다른 한계점으로 나타났다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대화가 길어질수록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이전 발화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(Utterance)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에서 형성된 맥락에 과도하게 의존하는 경향을 보였다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이로 인해 개발자가 명확히 새로운 기준이나 수정된 라이브러리 정보를 제공하더라도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모델이 이전 답변의 코드 구조를 반복 출력하거나 수정 사항을 누락하는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대화의 관성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현상이 발생하여 불필요하게 반복해서 수정사항을 지시해야 했고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때때로 대화 기록을 초기화하고 새로운 세션을 시작해야 하는 상황이 빈번하는 등 재입력 비용이 필요했다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결론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위와 같은 한계점들은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기반 개발 환경에서 개발자의 역할이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작성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검토 및 검증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으로 변화해야 함을 시사한다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 개인의 도메인 지식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(Domain Knowledge)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 전제되어야만 진정한 효율성 향상을 기대할 수 있으며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아직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개발자를 완전히 대체할 수 없고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개발자의 역량에 따라 그 활용 가치가 결정되는 고도의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지능형 도구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'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로서 기능함을 확인하였다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  <p:graphicFrame>
        <p:nvGraphicFramePr>
          <p:cNvPr id="54" name="차트 53">
            <a:extLst>
              <a:ext uri="{FF2B5EF4-FFF2-40B4-BE49-F238E27FC236}">
                <a16:creationId xmlns:a16="http://schemas.microsoft.com/office/drawing/2014/main" id="{DF56601F-1687-5162-6873-F6FCECE821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7653110"/>
              </p:ext>
            </p:extLst>
          </p:nvPr>
        </p:nvGraphicFramePr>
        <p:xfrm>
          <a:off x="16618515" y="7130361"/>
          <a:ext cx="15380722" cy="3402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타원 54">
            <a:extLst>
              <a:ext uri="{FF2B5EF4-FFF2-40B4-BE49-F238E27FC236}">
                <a16:creationId xmlns:a16="http://schemas.microsoft.com/office/drawing/2014/main" id="{3B61C5DE-8B9B-EFD1-3C77-F06A2C62D31E}"/>
              </a:ext>
            </a:extLst>
          </p:cNvPr>
          <p:cNvSpPr/>
          <p:nvPr/>
        </p:nvSpPr>
        <p:spPr>
          <a:xfrm>
            <a:off x="16618515" y="10995314"/>
            <a:ext cx="900000" cy="90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4005418-FA0A-3D77-DCC5-84757F290425}"/>
              </a:ext>
            </a:extLst>
          </p:cNvPr>
          <p:cNvSpPr txBox="1"/>
          <p:nvPr/>
        </p:nvSpPr>
        <p:spPr>
          <a:xfrm>
            <a:off x="16667552" y="11091371"/>
            <a:ext cx="8019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ko-KR" altLang="en-US" sz="4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7C9456-7012-1919-C017-17B01672CD08}"/>
              </a:ext>
            </a:extLst>
          </p:cNvPr>
          <p:cNvSpPr txBox="1"/>
          <p:nvPr/>
        </p:nvSpPr>
        <p:spPr>
          <a:xfrm>
            <a:off x="17761352" y="11091371"/>
            <a:ext cx="125648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LLM </a:t>
            </a:r>
            <a:r>
              <a:rPr lang="ko-KR" altLang="en-US" sz="4000" b="1" dirty="0" err="1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멀티모달</a:t>
            </a:r>
            <a:r>
              <a:rPr lang="ko-KR" altLang="en-US" sz="4000" b="1" dirty="0">
                <a:solidFill>
                  <a:schemeClr val="accent1">
                    <a:lumMod val="50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기능을 활용한 시각적 로직의 코드 변환</a:t>
            </a:r>
            <a:endParaRPr lang="ko-KR" altLang="en-US" sz="4000" dirty="0">
              <a:solidFill>
                <a:schemeClr val="accent1">
                  <a:lumMod val="50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22985B-4C8A-3A30-6997-E4B442E3F76A}"/>
              </a:ext>
            </a:extLst>
          </p:cNvPr>
          <p:cNvSpPr txBox="1"/>
          <p:nvPr/>
        </p:nvSpPr>
        <p:spPr>
          <a:xfrm>
            <a:off x="16618515" y="12350195"/>
            <a:ext cx="15380722" cy="13867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연구에서는 소규모 게임 개발 과정에서 성능 최적화와 개발 속도 사이의 간극을 줄이기 위해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의 이미지 인식 기능을 활용한 노드 분석 및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변환 프로세스를 시도하였다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</a:p>
          <a:p>
            <a:pPr>
              <a:lnSpc>
                <a:spcPct val="110000"/>
              </a:lnSpc>
            </a:pPr>
            <a:endParaRPr lang="en-US" altLang="ko-KR" sz="3200" b="1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시각적 노드 그래프의 논리적 인식 및 구조화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전통적인 방식에서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블루프린트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로직을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로 이식하기 위해서는 개발자가 직접 노드의 실행 흐름과 데이터 핀의 연결 관계를 역설계해야 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본 연구에서는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멀티모달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블루프린트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에디터의 스크린샷을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입력값으로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제공하였다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 </a:t>
            </a:r>
          </a:p>
          <a:p>
            <a:pPr>
              <a:lnSpc>
                <a:spcPct val="110000"/>
              </a:lnSpc>
            </a:pPr>
            <a:endParaRPr lang="en-US" altLang="ko-KR" sz="3600" b="1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C++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클래스 변환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인식된 시각적 논리를 바탕으로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언리얼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엔진의 코딩 표준을 준수하는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코드를 생성하는데 성공하였다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은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블루프린트의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각 노드에 대응하는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UFUNCTION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및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UPROPERTY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매크로를 포함한 헤더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(.h)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 소스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(.</a:t>
            </a:r>
            <a:r>
              <a:rPr lang="en-US" altLang="ko-KR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cpp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)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파일을 구성하였다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특히 가상 머신 오버헤드가 발생하는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블루프린트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로직을 네이티브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코드로 치환함으로써 실행 성능을 극대화하였다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또한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생성된 코드에서 발생할 수 있는 잠재적인 널 포인터 참조나 타입 불일치를 사전에 식별하고 보정하는 검수 과정을 수행하였다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endParaRPr lang="en-US" altLang="ko-KR" sz="3200" dirty="0">
              <a:effectLst/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'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프로토타이핑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-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최적화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'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워크플로우의 선순환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멀티모달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기능을 활용한 변환 프로세스는 단순한 도구의 활용을 넘어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 주기 전체의 효율성을 개선하였다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시각적 직관성이 높은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블루프린트로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기능을 빠르게 구현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(Prototyping)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한 후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LLM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통해 즉시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C++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로 안정화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(Stabilization)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하는 이분법적 접근이 </a:t>
            </a:r>
            <a:r>
              <a:rPr lang="ko-KR" altLang="en-US" sz="3200" dirty="0" err="1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가능해졌으며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복잡한 로직을 텍스트로 설명하거나 문서화할 필요 없이 스크린샷 한 장으로 의도를 전달함으로써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개발자와 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AI </a:t>
            </a: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간의 정보 전달 효율을 극대화하고 개발 흐름이 끊기는 </a:t>
            </a:r>
            <a:endParaRPr lang="en-US" altLang="ko-KR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맥락 전환 비용을 최소화할 수 있었다</a:t>
            </a:r>
            <a:r>
              <a:rPr lang="en-US" altLang="ko-KR" sz="320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320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808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172</TotalTime>
  <Words>1054</Words>
  <Application>Microsoft Office PowerPoint</Application>
  <PresentationFormat>사용자 지정</PresentationFormat>
  <Paragraphs>65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10" baseType="lpstr">
      <vt:lpstr>Noto Sans KR Black</vt:lpstr>
      <vt:lpstr>Noto Sans KR Light</vt:lpstr>
      <vt:lpstr>Noto Sans KR SemiBold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 kevin</dc:creator>
  <cp:lastModifiedBy>cho kevin</cp:lastModifiedBy>
  <cp:revision>88</cp:revision>
  <cp:lastPrinted>2026-05-27T12:39:01Z</cp:lastPrinted>
  <dcterms:created xsi:type="dcterms:W3CDTF">2026-05-27T06:41:54Z</dcterms:created>
  <dcterms:modified xsi:type="dcterms:W3CDTF">2026-05-27T12:51:10Z</dcterms:modified>
</cp:coreProperties>
</file>