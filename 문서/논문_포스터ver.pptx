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2399288" cy="43200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4" autoAdjust="0"/>
    <p:restoredTop sz="94660"/>
  </p:normalViewPr>
  <p:slideViewPr>
    <p:cSldViewPr snapToGrid="0">
      <p:cViewPr varScale="1">
        <p:scale>
          <a:sx n="15" d="100"/>
          <a:sy n="15" d="100"/>
        </p:scale>
        <p:origin x="7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24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667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0733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465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8961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347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627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759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9604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816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325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8662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1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1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89DA5E7-D1F2-4AFB-4F53-A3F2818131A1}"/>
              </a:ext>
            </a:extLst>
          </p:cNvPr>
          <p:cNvSpPr/>
          <p:nvPr/>
        </p:nvSpPr>
        <p:spPr>
          <a:xfrm>
            <a:off x="0" y="0"/>
            <a:ext cx="14891657" cy="1528354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5DF88CF-F746-297C-7A7A-2586276CC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4857" y="6562789"/>
            <a:ext cx="7968339" cy="79683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B605969-D860-678B-08F8-F4F3356C9AE8}"/>
              </a:ext>
            </a:extLst>
          </p:cNvPr>
          <p:cNvSpPr/>
          <p:nvPr/>
        </p:nvSpPr>
        <p:spPr>
          <a:xfrm>
            <a:off x="0" y="15283543"/>
            <a:ext cx="14891657" cy="279170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BC5D55-467B-197E-D070-03403D364044}"/>
              </a:ext>
            </a:extLst>
          </p:cNvPr>
          <p:cNvSpPr txBox="1"/>
          <p:nvPr/>
        </p:nvSpPr>
        <p:spPr>
          <a:xfrm>
            <a:off x="1725384" y="1862814"/>
            <a:ext cx="1144088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언리얼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 엔진 </a:t>
            </a:r>
            <a:r>
              <a:rPr lang="en-US" altLang="ko-KR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C++ 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환경에서 </a:t>
            </a:r>
            <a:r>
              <a:rPr lang="en-US" altLang="ko-KR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LLM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을 활용한 소규모 게임 개발 효율성 연구</a:t>
            </a:r>
            <a:endParaRPr lang="en-US" altLang="ko-KR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endParaRPr lang="en-US" altLang="ko-KR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r>
              <a:rPr lang="ko-KR" altLang="en-US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졸업작품 개발 사례를 중심으로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01207-9B09-00EC-9C05-22CF08B52CB8}"/>
              </a:ext>
            </a:extLst>
          </p:cNvPr>
          <p:cNvSpPr txBox="1"/>
          <p:nvPr/>
        </p:nvSpPr>
        <p:spPr>
          <a:xfrm>
            <a:off x="1725383" y="7684738"/>
            <a:ext cx="11440887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Sung-Wook Cho</a:t>
            </a:r>
          </a:p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Min-Woo Ji</a:t>
            </a:r>
          </a:p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Daniel Kim</a:t>
            </a:r>
          </a:p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Dae-Hyun Lee </a:t>
            </a:r>
          </a:p>
          <a:p>
            <a:endParaRPr lang="en-US" altLang="ko-KR" sz="5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ea"/>
              </a:rPr>
              <a:t>Tech University of Korea Dept. </a:t>
            </a:r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of Game &amp; Multimedia Engineering </a:t>
            </a:r>
            <a:endParaRPr lang="ko-KR" altLang="en-US" sz="5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+mj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79419-6C8F-BDEC-E74D-20045CAF63CE}"/>
              </a:ext>
            </a:extLst>
          </p:cNvPr>
          <p:cNvSpPr txBox="1"/>
          <p:nvPr/>
        </p:nvSpPr>
        <p:spPr>
          <a:xfrm>
            <a:off x="718454" y="16396486"/>
            <a:ext cx="13454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연구 배경</a:t>
            </a:r>
            <a:endParaRPr lang="ko-KR" altLang="en-US" b="1" dirty="0">
              <a:solidFill>
                <a:schemeClr val="accent1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C60FF-D576-DB29-9D6D-BCC410E425D8}"/>
              </a:ext>
            </a:extLst>
          </p:cNvPr>
          <p:cNvSpPr txBox="1"/>
          <p:nvPr/>
        </p:nvSpPr>
        <p:spPr>
          <a:xfrm>
            <a:off x="718453" y="17673867"/>
            <a:ext cx="13454743" cy="9325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최근 전 세계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IT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업계는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개발자 채용 감소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와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'AI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인재 수요 급증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이라는 구조적 전환기를 맞이하고 있다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. 2021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년 이후 개발자 수요는 둔화되었으며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, 2022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년부터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2024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년 사이 전 세 계적으로 약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56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만 명 이상의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IT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인력이 감축되었다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.</a:t>
            </a:r>
          </a:p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이러한 흐름은 게임 업계에도 직결되어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,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신입 개발자의 진입 장벽은 높아지는 반면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LLM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을 도구로 활용해 고도의 설계를 수행할 수 있는 능력은 소규모 개발 환경에서 생존을 위한 필수 역량이 되고 있다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.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 </a:t>
            </a:r>
          </a:p>
          <a:p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2020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년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GPT-3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의 등장을 기점으로 시작된 코딩 보조 능력은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2026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년 현재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Claude Opus 4.5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및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GPT-5.4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와 같은 모델들이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SWE- bench Verified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에서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80%, </a:t>
            </a:r>
            <a:r>
              <a:rPr lang="en-US" altLang="ko-KR" sz="4000" b="1" dirty="0" err="1">
                <a:solidFill>
                  <a:schemeClr val="tx2">
                    <a:lumMod val="75000"/>
                  </a:schemeClr>
                </a:solidFill>
                <a:ea typeface="+mj-ea"/>
              </a:rPr>
              <a:t>HumanEval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에서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95%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이상의 </a:t>
            </a:r>
            <a:r>
              <a:rPr lang="ko-KR" altLang="en-US" sz="4000" b="1" dirty="0" err="1">
                <a:solidFill>
                  <a:schemeClr val="tx2">
                    <a:lumMod val="75000"/>
                  </a:schemeClr>
                </a:solidFill>
                <a:ea typeface="+mj-ea"/>
              </a:rPr>
              <a:t>정답률을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 기록하며 포화 상태에 이르렀다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. </a:t>
            </a:r>
          </a:p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이제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LLM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은 단순한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코드 자동 완성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을 넘어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,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개발자의 자연어 의도를 이해하고 복잡한 아키텍처를 설계하는 이른바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'</a:t>
            </a:r>
            <a:r>
              <a:rPr lang="ko-KR" altLang="en-US" sz="4000" b="1" dirty="0" err="1">
                <a:solidFill>
                  <a:schemeClr val="tx2">
                    <a:lumMod val="75000"/>
                  </a:schemeClr>
                </a:solidFill>
                <a:ea typeface="+mj-ea"/>
              </a:rPr>
              <a:t>바이브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 코딩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’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패러다임을 형성하고 있다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. </a:t>
            </a:r>
            <a:endParaRPr lang="ko-KR" altLang="en-US" sz="4000" b="1" dirty="0">
              <a:solidFill>
                <a:schemeClr val="tx2">
                  <a:lumMod val="75000"/>
                </a:schemeClr>
              </a:solidFill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E9B039-BE8F-0087-3CBB-6F40C19DF1A1}"/>
              </a:ext>
            </a:extLst>
          </p:cNvPr>
          <p:cNvSpPr txBox="1"/>
          <p:nvPr/>
        </p:nvSpPr>
        <p:spPr>
          <a:xfrm>
            <a:off x="718453" y="33637727"/>
            <a:ext cx="13454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연구 방법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AD083-2F16-07D5-47B8-F8BEDA6D8DD6}"/>
              </a:ext>
            </a:extLst>
          </p:cNvPr>
          <p:cNvSpPr txBox="1"/>
          <p:nvPr/>
        </p:nvSpPr>
        <p:spPr>
          <a:xfrm>
            <a:off x="718454" y="28300972"/>
            <a:ext cx="13454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연구 목적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F9E64D-7F4F-CCFE-AC45-EA7B645ED037}"/>
              </a:ext>
            </a:extLst>
          </p:cNvPr>
          <p:cNvSpPr txBox="1"/>
          <p:nvPr/>
        </p:nvSpPr>
        <p:spPr>
          <a:xfrm>
            <a:off x="718453" y="29578353"/>
            <a:ext cx="134547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  <a:ea typeface="+mj-ea"/>
              </a:rPr>
              <a:t>본 연구의 목적은 </a:t>
            </a:r>
            <a:r>
              <a:rPr lang="ko-KR" altLang="en-US" sz="4000" b="1" dirty="0" err="1">
                <a:solidFill>
                  <a:schemeClr val="tx2">
                    <a:lumMod val="75000"/>
                  </a:schemeClr>
                </a:solidFill>
              </a:rPr>
              <a:t>언리얼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 엔진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C++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라는 높은 기술적 진입 장벽을 가진 환경에서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, LLM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기반의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'</a:t>
            </a:r>
            <a:r>
              <a:rPr lang="ko-KR" altLang="en-US" sz="4000" b="1" dirty="0" err="1">
                <a:solidFill>
                  <a:schemeClr val="tx2">
                    <a:lumMod val="75000"/>
                  </a:schemeClr>
                </a:solidFill>
              </a:rPr>
              <a:t>바이브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 코딩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'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이 소규모 게임 프로젝트의 생산 한계선을 어떻게 </a:t>
            </a:r>
            <a:r>
              <a:rPr lang="ko-KR" altLang="en-US" sz="4000" b="1" dirty="0" err="1">
                <a:solidFill>
                  <a:schemeClr val="tx2">
                    <a:lumMod val="75000"/>
                  </a:schemeClr>
                </a:solidFill>
              </a:rPr>
              <a:t>확장시키는지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 규명하는 데 있다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. </a:t>
            </a:r>
            <a:endParaRPr lang="ko-KR" altLang="en-US" sz="4000" b="1" dirty="0">
              <a:solidFill>
                <a:schemeClr val="tx2">
                  <a:lumMod val="75000"/>
                </a:schemeClr>
              </a:solidFill>
              <a:ea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BE6545-76E5-EBA3-349E-09B6ED05E91B}"/>
              </a:ext>
            </a:extLst>
          </p:cNvPr>
          <p:cNvSpPr txBox="1"/>
          <p:nvPr/>
        </p:nvSpPr>
        <p:spPr>
          <a:xfrm>
            <a:off x="718453" y="34915108"/>
            <a:ext cx="13454743" cy="661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§"/>
            </a:pP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기초 공수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(Baseline)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대비 분석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: </a:t>
            </a:r>
          </a:p>
          <a:p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LLM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의 보조 없이 진행되었을 때의 예상 소요 시간과 실제 구현 시간을 비교  </a:t>
            </a:r>
            <a:endParaRPr lang="en-US" altLang="ko-KR" sz="4000" b="1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altLang="ko-KR" sz="1200" b="1" dirty="0">
              <a:solidFill>
                <a:schemeClr val="tx2">
                  <a:lumMod val="75000"/>
                </a:schemeClr>
              </a:solidFill>
            </a:endParaRPr>
          </a:p>
          <a:p>
            <a:pPr marL="571500" indent="-571500">
              <a:buFont typeface="Wingdings" panose="05000000000000000000" pitchFamily="2" charset="2"/>
              <a:buChar char="§"/>
            </a:pP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기술 장벽 극복 사례 연구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: </a:t>
            </a:r>
          </a:p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개발자의 기존 숙련도만으로는 장시간이 소요되었을 작업을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LLM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의 아키텍처 가이드를 통해 해결한 사례를 분석한다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.</a:t>
            </a:r>
          </a:p>
          <a:p>
            <a:pPr marL="571500" indent="-571500">
              <a:buFontTx/>
              <a:buChar char="-"/>
            </a:pPr>
            <a:endParaRPr lang="ko-KR" altLang="en-US" sz="1200" b="1" dirty="0">
              <a:solidFill>
                <a:schemeClr val="tx2">
                  <a:lumMod val="75000"/>
                </a:schemeClr>
              </a:solidFill>
            </a:endParaRPr>
          </a:p>
          <a:p>
            <a:pPr marL="571500" indent="-571500">
              <a:buFont typeface="Wingdings" panose="05000000000000000000" pitchFamily="2" charset="2"/>
              <a:buChar char="§"/>
            </a:pP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 실제 사례 기반 분석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: </a:t>
            </a:r>
          </a:p>
          <a:p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본 연구팀의 졸업작품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'Containment Cleanup Detail' 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개발 과정 중 발생한 구체적인 에피소드 사례를 들어 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LLM</a:t>
            </a:r>
            <a:r>
              <a:rPr lang="ko-KR" altLang="en-US" sz="4000" b="1" dirty="0">
                <a:solidFill>
                  <a:schemeClr val="tx2">
                    <a:lumMod val="75000"/>
                  </a:schemeClr>
                </a:solidFill>
              </a:rPr>
              <a:t>이 미친 영향을 서술한다</a:t>
            </a:r>
            <a:r>
              <a:rPr lang="en-US" altLang="ko-KR" sz="4000" b="1" dirty="0">
                <a:solidFill>
                  <a:schemeClr val="tx2">
                    <a:lumMod val="75000"/>
                  </a:schemeClr>
                </a:solidFill>
              </a:rPr>
              <a:t>.</a:t>
            </a:r>
            <a:endParaRPr lang="ko-KR" altLang="en-US" sz="4000" b="1" dirty="0">
              <a:solidFill>
                <a:schemeClr val="tx2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9570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</TotalTime>
  <Words>288</Words>
  <Application>Microsoft Office PowerPoint</Application>
  <PresentationFormat>사용자 지정</PresentationFormat>
  <Paragraphs>25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8</cp:revision>
  <dcterms:created xsi:type="dcterms:W3CDTF">2026-05-27T06:41:54Z</dcterms:created>
  <dcterms:modified xsi:type="dcterms:W3CDTF">2026-05-27T07:23:46Z</dcterms:modified>
</cp:coreProperties>
</file>